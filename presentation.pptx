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74" r:id="rId3"/>
    <p:sldId id="257" r:id="rId4"/>
    <p:sldId id="272" r:id="rId5"/>
    <p:sldId id="275" r:id="rId6"/>
    <p:sldId id="260" r:id="rId7"/>
    <p:sldId id="261" r:id="rId8"/>
    <p:sldId id="262" r:id="rId9"/>
    <p:sldId id="276" r:id="rId10"/>
    <p:sldId id="263" r:id="rId11"/>
    <p:sldId id="273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9" autoAdjust="0"/>
    <p:restoredTop sz="85347" autoAdjust="0"/>
  </p:normalViewPr>
  <p:slideViewPr>
    <p:cSldViewPr snapToGrid="0">
      <p:cViewPr varScale="1">
        <p:scale>
          <a:sx n="102" d="100"/>
          <a:sy n="102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1" d="100"/>
          <a:sy n="91" d="100"/>
        </p:scale>
        <p:origin x="355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F9DDCD-6582-4FC2-87A2-FA2F2F89B44A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721744-D43C-422F-B42D-F891E80211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5046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Здравствуйте, уважаемая комиссия. Вашему вниманию представляется выпускная квалификационная работа на тему «Метод обнаружения фальсифицированного фрагмента на изображении с использованием свёрточной нейронной сети».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21744-D43C-422F-B42D-F891E80211BA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73541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Из-за доступа редакторов и развитию генеративного искусственного интеллекта массовое создание поддельных изображений стало реальной угрозой информационной безопасности. Существующие методы часто недостаточно точны и не обладают нужной устойчивостью к постобработке.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21744-D43C-422F-B42D-F891E80211BA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82578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Цель работы являются разработка и программная реализация метод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обнаружения фальсифицированного фрагмента на изображении с использованием сверточной нейронной сети.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достижения поставленной цели необходимо решить все задачи, которые показал на третрем слайде.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21744-D43C-422F-B42D-F891E80211BA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69203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четвёртом слайде представлено сравнение существующих подходов.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 показано в таблице, традиционные методы имеют низкую или среднюю точность и обобщающую способность. Предлагаемая многопоточная сверточная сеть обеспечивает высокие показатели по всем трём критериям.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21744-D43C-422F-B42D-F891E80211BA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2667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пятом слайде показана формализация задачи в нотации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IDEF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вход метода поступают набор данных и изображение. На выходе мы получаем прогнозируемую маску фальсифицированного фрагмента.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21744-D43C-422F-B42D-F891E80211BA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95622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Шестой слайд демонстрирует детальную функциональную модель разработанного метода.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Метод состоит из четырёх последовательных этапов: предобработка, извлечение шумовых признаков, обучение двухпоточной модели и, наконец, непосредственно обнаружение фальсификации на новых изображениях.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vi-V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effectLst/>
              </a:rPr>
              <a:t>Мы не показываем все стрелки на верхнем уровне, чтобы не перегружать схему.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21744-D43C-422F-B42D-F891E80211BA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94317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седьмом слайде представлен алгоритм извлечения признаков.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вход подаётся нормализованное изображение. На выходе формируется </a:t>
            </a:r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карта шумовых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Полученная карта шумовых признаков подчёркивает слабые артефакты фальсификации.</a:t>
            </a:r>
            <a:endParaRPr lang="vi-V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vi-V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Выбор коэффициента сжатия 95% обусловлен необходимостью создания характерных для JPEG потерь, но без критического разрушения структуры изображения. Это позволяет вычислить попиксельную разность между оригиналом и сжатой версией</a:t>
            </a:r>
            <a:endParaRPr lang="en-US" dirty="0"/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21744-D43C-422F-B42D-F891E80211BA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78053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Архитектура включает два параллельных потока: один работает с цветлым изображением, другой — с картой шумовых признаков. Затем потоки сливаются, проходят через слои адаптации и внимания, и формирует итоговую маску.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21744-D43C-422F-B42D-F891E80211BA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54597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девятом слайде показал конкретнее структуры слоя адаптации признаков и слоя внимания. Слой адаптации признаков в виде остаточного блока согласует шумовую и семантическую информацию, а слой внимания динамически перевешивает важные каналы.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vi-V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effectLst/>
              </a:rPr>
              <a:t>SE-блок проще, легче и эффективнее именно для задачи канальной перекалибровки. Он хорошо работает с нашей двухпоточной архитектурой и меньше увеличивает число параметров.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21744-D43C-422F-B42D-F891E80211BA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10349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обучения и тестирования использовался  набор данных CASIA второго версии, который содержит более 5000 изображений с пиксельными масками.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21744-D43C-422F-B42D-F891E80211BA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59364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effectLst/>
              </a:rPr>
              <a:t>На одинадцадтом слайде представлена схема разработанного программного обеспечения. Программа имеет модульную структуру и включает четыре модуля: модуль пользовательского интерфейса, позволяющий загружать изображения и выводить результаты обнаружения; модуль предобработки изображения, выполняющий изменение размера и нормализацию; а также модули обнаружения фальсифицированного фрагмента, сохранения и загрузки модели. Такая архитектура обеспечивает удобство использования и чёткое разделение responsibilities между компонентами системы.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21744-D43C-422F-B42D-F891E80211BA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63048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оценки качество обнаружения метода используются две метрики: F1-мера и IoU</a:t>
            </a:r>
            <a:r>
              <a:rPr lang="vi-V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индекс Жаккара)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Эти метрики вычислены по формулам, показанным на слайде.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21744-D43C-422F-B42D-F891E80211BA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8000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 13 демонстрирует влияние механизма внимания на работу метода. Добавление механизма внимания повышает качество работы метода. Визуально маска стала значительно точнее и чище.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21744-D43C-422F-B42D-F891E80211BA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76527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4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четырнадцатом слайде показан вклад слоя адаптации признаков. Наилучшие результаты дают слои адаптации в виде остаточных блоков. Без адаптации качество падает на 20%, так как шумовые и семантические признаки не согласованы.</a:t>
            </a:r>
            <a:endParaRPr lang="en-US" sz="14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21744-D43C-422F-B42D-F891E80211BA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05623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Следующее исследование – зависимость качества работы метода от уровня сжатия изображения. При качестве 80 % модель сохраняет приемлемую точность, что подтверждает практическую применимость метода.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21744-D43C-422F-B42D-F891E80211BA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73700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работе разработан и реализован двухпоточный метод обнаружения фальсифицированных фрагментов с механизмами внимания и адаптации признаков. Все поставленные задачи решены, цель достигнута. Направление дальнейшего развития можно рассмотреть ускорение для реального времени и повышение устойчивости к постобработке.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21744-D43C-422F-B42D-F891E80211BA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2363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2419E9-61C5-0913-8C39-E5E6E8A801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DD385EA-BA59-7105-7E9B-7644B63338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42AA877-6F94-B9C8-5826-85A1EF939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3E6BD-B4C5-4C5E-AC73-5E733A3CDA2C}" type="datetime1">
              <a:rPr lang="ru-RU" smtClean="0"/>
              <a:t>24.06.2026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AE3AF89-C1D7-59B0-E3AB-90E6F903F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12504A-A634-E6DF-B468-1D943E0D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D2179-D880-4E7E-97D2-571DE9C9E0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8530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5AA17D-77BD-E621-4EB5-880568205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5313A9-3976-9247-6C74-E202A62C7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2184553-3A63-BDCA-8948-6B8C88B3F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54F16-EF89-444B-B5EE-096ABF5F48C7}" type="datetime1">
              <a:rPr lang="ru-RU" smtClean="0"/>
              <a:t>24.06.2026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4010BA-FA78-E4E8-F4BA-DB69307FA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4C8C82-2C85-9142-FF0A-7AD7572C0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D2179-D880-4E7E-97D2-571DE9C9E0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9080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525030-4020-85C6-4D8D-AD12DBEB9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B92B2C5-F6AD-D931-71D7-596827B3D8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0B1B383-EABA-68CD-AAE9-255F52BBA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6D5F6-1A3B-4480-A930-7B5D513F4301}" type="datetime1">
              <a:rPr lang="ru-RU" smtClean="0"/>
              <a:t>24.06.2026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7F35FA4-40F0-14A7-40AF-4095800B4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2F54DA0-5382-7627-32D9-A36678A2E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D2179-D880-4E7E-97D2-571DE9C9E0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4502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55507A-BCD8-98E3-5E4A-EE47E8E1A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4BFE02-FD6C-6CCB-2ED9-6EE8961383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427E4C9-BF2B-ACC5-76DF-07E832AEFE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398DEE5-A3EF-3C41-9585-8BC775876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61997-42E7-4A3D-AFD9-A4B06E9A2CD4}" type="datetime1">
              <a:rPr lang="ru-RU" smtClean="0"/>
              <a:t>24.06.2026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F10A972-1A25-7AC3-5D15-F307C3441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85279A5-65B7-1515-FC5F-CCBAC626E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D2179-D880-4E7E-97D2-571DE9C9E0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9945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D9FD64-3BF5-54F5-FFDA-718B13125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3E7AB9A-03C3-CBDE-C694-6CABA97EF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3AB335D-884B-68AF-2797-76786EB7A0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115B2A0-92A3-218C-F80F-702084723D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B329AE2-E3D2-EF8B-B281-9EC26C5D3F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249418D-C2AD-1A77-991C-7579D338B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1E04C-46DC-49F7-BB58-C0F68A028918}" type="datetime1">
              <a:rPr lang="ru-RU" smtClean="0"/>
              <a:t>24.06.2026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0BA6F8C-4FF4-E3CE-B358-B6452BCFC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DDFF1F7-8201-0826-F101-532A15B00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D2179-D880-4E7E-97D2-571DE9C9E0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0939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22563C-5D24-4D76-13B9-AF07996C6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7912F0F-8E4B-404D-5DFD-C29D5B5F5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DAAF7-7DCA-4B59-8EFF-412AF87020B2}" type="datetime1">
              <a:rPr lang="ru-RU" smtClean="0"/>
              <a:t>24.06.2026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FB0D400-8241-1D32-643A-8996435AD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205CE4B-EBAB-2EE6-7F4E-B2592AF48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D2179-D880-4E7E-97D2-571DE9C9E0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7819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9AFD817-65BD-A276-4138-BD386B85B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9192A-75AA-4314-85F0-C37E684E0F1B}" type="datetime1">
              <a:rPr lang="ru-RU" smtClean="0"/>
              <a:t>24.06.2026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CBC4988-F353-88A6-A886-81DFF8701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3407517-0CB3-9DAC-0DCE-F00FBC498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D2179-D880-4E7E-97D2-571DE9C9E0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6169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538FD0-F001-9D06-76F8-75BC076CE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003688-ACBB-164C-06DC-86A4F0B47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C96ABA7-6A2A-FFD5-EFBD-D20DFE7979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9FDAC78-E5E0-71B1-95D0-76329A0D0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6CD73-1DC1-4CCB-8639-48CA902A4BE7}" type="datetime1">
              <a:rPr lang="ru-RU" smtClean="0"/>
              <a:t>24.06.2026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8AC4A67-5473-5828-77E4-1236F9E84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E3E453A-5F3B-16AA-787C-55B3BE8EC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D2179-D880-4E7E-97D2-571DE9C9E0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547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4EDE7D-92C0-E946-F67F-6616BA8E3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AB0D4F5-D12D-AD80-FD25-878BBCC7C9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748F82F-DE9E-26A7-3D0B-AB8E5E3621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569F38C-E9EC-D4CC-95B1-20779B46C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EEA16-318D-49A8-B19A-6FCF07807A8C}" type="datetime1">
              <a:rPr lang="ru-RU" smtClean="0"/>
              <a:t>24.06.2026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912DDA9-7CDF-6B07-72DF-3839C571A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B51CCB2-C6A9-C751-89E3-528707C10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D2179-D880-4E7E-97D2-571DE9C9E0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0581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F059C1-C794-92FD-83E5-11E491E6D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53FCD33-CEBA-BA42-5CD9-B63621CADA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2D1AD0E-BFF1-8B80-440B-AE0AF01FB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4D24D-E8DE-46D2-B2EA-B77A9C5FF877}" type="datetime1">
              <a:rPr lang="ru-RU" smtClean="0"/>
              <a:t>24.06.2026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8CBF77-422A-A7DF-0A65-7C5DA22CA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E3FFFF-BBCD-CCC8-F825-0BD99F0C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D2179-D880-4E7E-97D2-571DE9C9E0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0513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A23D524-E148-8F32-4D3C-DE164E9382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EF94F11-A4F2-5FCC-36F1-844020D519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376D9A2-D0E1-D235-FEF4-871216E9D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76F11-00B9-4E07-B295-6CA67D2F7E8B}" type="datetime1">
              <a:rPr lang="ru-RU" smtClean="0"/>
              <a:t>24.06.2026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02FDC97-8CE5-46DF-E23D-69AAF46CA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0D92F5-C716-BF19-D484-D8F35C706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D2179-D880-4E7E-97D2-571DE9C9E0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0945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E62242-9FD0-16C0-4C60-8E76DF97C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E0C8562-75BE-4E85-10CB-468066FC49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C30D18-78F2-500F-0E19-8E5972CE59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DA6B07-345E-41F3-AB13-E427DFAF8E87}" type="datetime1">
              <a:rPr lang="ru-RU" smtClean="0"/>
              <a:t>24.06.2026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BA92D0C-E374-9A2D-3153-CCD1523595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7B8104-0E01-CBDA-2B7D-BE5D3FB417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FD2179-D880-4E7E-97D2-571DE9C9E0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3693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5CE20-9DE0-D022-BD5E-46AA6B07E6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692" y="2457002"/>
            <a:ext cx="10657129" cy="1784680"/>
          </a:xfrm>
        </p:spPr>
        <p:txBody>
          <a:bodyPr>
            <a:normAutofit fontScale="90000"/>
          </a:bodyPr>
          <a:lstStyle/>
          <a:p>
            <a:b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Выпуская квалификационная работа</a:t>
            </a:r>
            <a:br>
              <a:rPr lang="ru-RU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обнаружения фальсифицированного фрагмента на изображении с использованием сверточной нейронной сети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0D4E664-5641-0293-FBD7-F67EB68BFD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9821" y="4590583"/>
            <a:ext cx="9144000" cy="1655762"/>
          </a:xfrm>
        </p:spPr>
        <p:txBody>
          <a:bodyPr/>
          <a:lstStyle/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Студент: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Динь Вьет Ань ИУ7И-42М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Кострицкий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Александр Сергеевич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2A5A24-4F36-D88B-5BEC-9D85A3375FFF}"/>
              </a:ext>
            </a:extLst>
          </p:cNvPr>
          <p:cNvSpPr txBox="1"/>
          <p:nvPr/>
        </p:nvSpPr>
        <p:spPr>
          <a:xfrm>
            <a:off x="1084052" y="316897"/>
            <a:ext cx="1002389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Liberation Serif"/>
              </a:rPr>
              <a:t>Федеральное государственное </a:t>
            </a:r>
            <a:r>
              <a:rPr lang="ru-RU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Liberation Serif"/>
              </a:rPr>
              <a:t>автономное</a:t>
            </a:r>
            <a:r>
              <a:rPr lang="ru-RU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Liberation Serif"/>
              </a:rPr>
              <a:t> образовательное учреждение высшего образования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ru-RU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Liberation Serif"/>
              </a:rPr>
              <a:t>«Московский государственный технический университет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Liberation Serif"/>
              </a:rPr>
              <a:t>имени Н.Э. Баумана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ru-RU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Liberation Serif"/>
              </a:rPr>
              <a:t>(национальный исследовательский университет)»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ru-RU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Liberation Serif"/>
              </a:rPr>
              <a:t>(МГТУ им. Н.Э. Баумана)</a:t>
            </a:r>
            <a:endParaRPr lang="ru-RU" sz="16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DCAAD6F-539E-414B-9D89-3FFB2D88E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D2179-D880-4E7E-97D2-571DE9C9E0F7}" type="slidenum">
              <a:rPr lang="ru-RU" smtClean="0"/>
              <a:t>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3D56818-B2F9-EB82-1C8B-15A59C690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z="2000" dirty="0">
                <a:solidFill>
                  <a:schemeClr val="tx1"/>
                </a:solidFill>
              </a:rPr>
              <a:t>2026г</a:t>
            </a:r>
          </a:p>
        </p:txBody>
      </p:sp>
    </p:spTree>
    <p:extLst>
      <p:ext uri="{BB962C8B-B14F-4D97-AF65-F5344CB8AC3E}">
        <p14:creationId xmlns:p14="http://schemas.microsoft.com/office/powerpoint/2010/main" val="2179937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21CA0-3710-6E43-3474-7C8E604D7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kern="0" spc="-89" dirty="0" err="1">
                <a:solidFill>
                  <a:srgbClr val="000000"/>
                </a:solidFill>
                <a:latin typeface="Times New Roman" panose="02020603050405020304" charset="0"/>
                <a:ea typeface="Source Serif Pro Semi Bold" pitchFamily="34" charset="-122"/>
                <a:cs typeface="Times New Roman" panose="02020603050405020304" charset="0"/>
              </a:rPr>
              <a:t>Актуальность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698C4-3A91-1166-D615-C52A0D39E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Рост количества манипуляций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Доступность мощных инструментов редактирования и генеративного ИИ делает создание реалистичных подделок массовым.</a:t>
            </a: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Угроза информационной безопасности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Фальсификация изображений используется для дезинформации, финансового мошенничества, дискредитации личности и создания ложных улик.</a:t>
            </a: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Необходимость автоматизации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Требуются высокоточные системы для мониторинга больших потоков медиаданных в режиме реального времени.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Проблема: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существующие методы обнаружения фальсифицированных фрагментов изображений имеют недостаточную точность и устойчивость к постобработке.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7E7922-3DD8-B9D0-0A7A-DB45CF1E7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D2179-D880-4E7E-97D2-571DE9C9E0F7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3930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038AC8-5211-EDC9-9276-EC67F7AC2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9607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 ВКР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4702D5-4A91-962E-F6E1-C892DEA85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429" y="1817387"/>
            <a:ext cx="1138572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разработка и программная реализация метода обнаружения фальсифицированного фрагмента на изображении с использованием сверточной нейронной сети.</a:t>
            </a:r>
          </a:p>
          <a:p>
            <a:pPr marL="0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сравнительный анализ методов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обнаружения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фальсифицированного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фрагмента на изображении;</a:t>
            </a:r>
          </a:p>
          <a:p>
            <a:pPr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метод обнаружения фальсифицированного фрагмента на изображении с использованием сверточной нейронной сети;</a:t>
            </a:r>
          </a:p>
          <a:p>
            <a:pPr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программное обеспечение, реализующее данный метод;</a:t>
            </a:r>
          </a:p>
          <a:p>
            <a:pPr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исследование эффективности реализованного метода.</a:t>
            </a:r>
          </a:p>
          <a:p>
            <a:pPr marL="0" indent="0">
              <a:buNone/>
            </a:pP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A402AC4-BC92-68E8-2060-262928C80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D2179-D880-4E7E-97D2-571DE9C9E0F7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674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Объект 7">
            <a:extLst>
              <a:ext uri="{FF2B5EF4-FFF2-40B4-BE49-F238E27FC236}">
                <a16:creationId xmlns:a16="http://schemas.microsoft.com/office/drawing/2014/main" id="{267DB40E-8091-D919-7218-56E3EBE74F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3282434"/>
              </p:ext>
            </p:extLst>
          </p:nvPr>
        </p:nvGraphicFramePr>
        <p:xfrm>
          <a:off x="877329" y="2189846"/>
          <a:ext cx="10437341" cy="3302439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3078728">
                  <a:extLst>
                    <a:ext uri="{9D8B030D-6E8A-4147-A177-3AD203B41FA5}">
                      <a16:colId xmlns:a16="http://schemas.microsoft.com/office/drawing/2014/main" val="730170553"/>
                    </a:ext>
                  </a:extLst>
                </a:gridCol>
                <a:gridCol w="2374721">
                  <a:extLst>
                    <a:ext uri="{9D8B030D-6E8A-4147-A177-3AD203B41FA5}">
                      <a16:colId xmlns:a16="http://schemas.microsoft.com/office/drawing/2014/main" val="939990101"/>
                    </a:ext>
                  </a:extLst>
                </a:gridCol>
                <a:gridCol w="2281881">
                  <a:extLst>
                    <a:ext uri="{9D8B030D-6E8A-4147-A177-3AD203B41FA5}">
                      <a16:colId xmlns:a16="http://schemas.microsoft.com/office/drawing/2014/main" val="1512173511"/>
                    </a:ext>
                  </a:extLst>
                </a:gridCol>
                <a:gridCol w="2702011">
                  <a:extLst>
                    <a:ext uri="{9D8B030D-6E8A-4147-A177-3AD203B41FA5}">
                      <a16:colId xmlns:a16="http://schemas.microsoft.com/office/drawing/2014/main" val="2326302492"/>
                    </a:ext>
                  </a:extLst>
                </a:gridCol>
              </a:tblGrid>
              <a:tr h="439947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Метод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Точность </a:t>
                      </a:r>
                      <a:endParaRPr lang="en-US" dirty="0">
                        <a:ln w="3175"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Устойчивость к постобработке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Обобщающая способность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2600354"/>
                  </a:ext>
                </a:extLst>
              </a:tr>
              <a:tr h="674093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Метод на основе анализа целостности изображений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Низкая/Средняя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Низкая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Низкая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5416408"/>
                  </a:ext>
                </a:extLst>
              </a:tr>
              <a:tr h="674093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Метод поиска ключевых точек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Средняя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Средняя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Низкая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732766"/>
                  </a:ext>
                </a:extLst>
              </a:tr>
              <a:tr h="420088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Однопоточная сверточная нейронная сеть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Средняя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Низкая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Средняя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8976660"/>
                  </a:ext>
                </a:extLst>
              </a:tr>
              <a:tr h="674093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Многопоточная сверточная нейронная сеть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265067"/>
                  </a:ext>
                </a:extLst>
              </a:tr>
            </a:tbl>
          </a:graphicData>
        </a:graphic>
      </p:graphicFrame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E19B80D5-4A1C-14E7-835E-76CD5C9E01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173" y="163902"/>
            <a:ext cx="10107827" cy="1131293"/>
          </a:xfrm>
        </p:spPr>
        <p:txBody>
          <a:bodyPr>
            <a:noAutofit/>
          </a:bodyPr>
          <a:lstStyle/>
          <a:p>
            <a:pPr algn="l">
              <a:lnSpc>
                <a:spcPts val="5500"/>
              </a:lnSpc>
            </a:pPr>
            <a:r>
              <a:rPr lang="en-US" sz="4000" kern="0" spc="-89" dirty="0" err="1">
                <a:solidFill>
                  <a:srgbClr val="000000"/>
                </a:solidFill>
                <a:latin typeface="Times New Roman" panose="02020603050405020304" charset="0"/>
                <a:ea typeface="Source Serif Pro Semi Bold" pitchFamily="34" charset="-122"/>
                <a:cs typeface="Times New Roman" panose="02020603050405020304" charset="0"/>
                <a:sym typeface="+mn-ea"/>
              </a:rPr>
              <a:t>Таблица</a:t>
            </a:r>
            <a:r>
              <a:rPr lang="en-US" sz="4000" kern="0" spc="-89" dirty="0">
                <a:solidFill>
                  <a:srgbClr val="000000"/>
                </a:solidFill>
                <a:latin typeface="Times New Roman" panose="02020603050405020304" charset="0"/>
                <a:ea typeface="Source Serif Pro Semi Bold" pitchFamily="34" charset="-122"/>
                <a:cs typeface="Times New Roman" panose="02020603050405020304" charset="0"/>
                <a:sym typeface="+mn-ea"/>
              </a:rPr>
              <a:t> </a:t>
            </a:r>
            <a:r>
              <a:rPr lang="en-US" sz="4000" kern="0" spc="-89" dirty="0" err="1">
                <a:solidFill>
                  <a:srgbClr val="000000"/>
                </a:solidFill>
                <a:latin typeface="Times New Roman" panose="02020603050405020304" charset="0"/>
                <a:ea typeface="Source Serif Pro Semi Bold" pitchFamily="34" charset="-122"/>
                <a:cs typeface="Times New Roman" panose="02020603050405020304" charset="0"/>
                <a:sym typeface="+mn-ea"/>
              </a:rPr>
              <a:t>сравнения</a:t>
            </a:r>
            <a:r>
              <a:rPr lang="ru-RU" altLang="en-US" sz="4000" kern="0" spc="-89" dirty="0">
                <a:solidFill>
                  <a:srgbClr val="000000"/>
                </a:solidFill>
                <a:latin typeface="Times New Roman" panose="02020603050405020304" charset="0"/>
                <a:ea typeface="Source Serif Pro Semi Bold" pitchFamily="34" charset="-122"/>
                <a:cs typeface="Times New Roman" panose="02020603050405020304" charset="0"/>
                <a:sym typeface="+mn-ea"/>
              </a:rPr>
              <a:t> с</a:t>
            </a:r>
            <a:r>
              <a:rPr lang="en-US" sz="4000" kern="0" spc="-89" dirty="0" err="1">
                <a:solidFill>
                  <a:srgbClr val="000000"/>
                </a:solidFill>
                <a:latin typeface="Times New Roman" panose="02020603050405020304" charset="0"/>
                <a:ea typeface="Source Serif Pro Semi Bold" pitchFamily="34" charset="-122"/>
                <a:cs typeface="Times New Roman" panose="02020603050405020304" charset="0"/>
                <a:sym typeface="+mn-ea"/>
              </a:rPr>
              <a:t>уществующи</a:t>
            </a:r>
            <a:r>
              <a:rPr lang="ru-RU" altLang="en-US" sz="4000" kern="0" spc="-89" dirty="0">
                <a:solidFill>
                  <a:srgbClr val="000000"/>
                </a:solidFill>
                <a:latin typeface="Times New Roman" panose="02020603050405020304" charset="0"/>
                <a:ea typeface="Source Serif Pro Semi Bold" pitchFamily="34" charset="-122"/>
                <a:cs typeface="Times New Roman" panose="02020603050405020304" charset="0"/>
                <a:sym typeface="+mn-ea"/>
              </a:rPr>
              <a:t>х</a:t>
            </a:r>
            <a:r>
              <a:rPr lang="en-US" sz="4000" kern="0" spc="-89" dirty="0">
                <a:solidFill>
                  <a:srgbClr val="000000"/>
                </a:solidFill>
                <a:latin typeface="Times New Roman" panose="02020603050405020304" charset="0"/>
                <a:ea typeface="Source Serif Pro Semi Bold" pitchFamily="34" charset="-122"/>
                <a:cs typeface="Times New Roman" panose="02020603050405020304" charset="0"/>
                <a:sym typeface="+mn-ea"/>
              </a:rPr>
              <a:t> </a:t>
            </a:r>
            <a:r>
              <a:rPr lang="en-US" sz="4000" kern="0" spc="-89" dirty="0" err="1">
                <a:solidFill>
                  <a:srgbClr val="000000"/>
                </a:solidFill>
                <a:latin typeface="Times New Roman" panose="02020603050405020304" charset="0"/>
                <a:ea typeface="Source Serif Pro Semi Bold" pitchFamily="34" charset="-122"/>
                <a:cs typeface="Times New Roman" panose="02020603050405020304" charset="0"/>
                <a:sym typeface="+mn-ea"/>
              </a:rPr>
              <a:t>методов</a:t>
            </a:r>
            <a:endParaRPr lang="en-US" altLang="en-US" sz="4000" kern="0" spc="-89" dirty="0">
              <a:solidFill>
                <a:srgbClr val="000000"/>
              </a:solidFill>
              <a:latin typeface="Times New Roman" panose="02020603050405020304" charset="0"/>
              <a:ea typeface="Source Serif Pro Semi Bold" pitchFamily="34" charset="-122"/>
              <a:cs typeface="Times New Roman" panose="02020603050405020304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FE9F8FD-CD26-1F35-28CF-DDB3D1C92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D2179-D880-4E7E-97D2-571DE9C9E0F7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0832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C8BC1-D545-6D39-AEFF-4CBEF1523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Формализация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err="1">
                <a:latin typeface="Times New Roman" panose="02020603050405020304" charset="0"/>
                <a:cs typeface="Times New Roman" panose="02020603050405020304" charset="0"/>
              </a:rPr>
              <a:t>задачи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74FC4E-67B8-1E67-08BB-732214DD1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D2179-D880-4E7E-97D2-571DE9C9E0F7}" type="slidenum">
              <a:rPr lang="ru-RU" smtClean="0"/>
              <a:t>5</a:t>
            </a:fld>
            <a:endParaRPr lang="ru-RU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CB0DB399-DBEE-609D-387C-28C5E85B00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4756" y="1825625"/>
            <a:ext cx="8022488" cy="4351338"/>
          </a:xfrm>
        </p:spPr>
      </p:pic>
    </p:spTree>
    <p:extLst>
      <p:ext uri="{BB962C8B-B14F-4D97-AF65-F5344CB8AC3E}">
        <p14:creationId xmlns:p14="http://schemas.microsoft.com/office/powerpoint/2010/main" val="1792687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AF7A93-4F00-23D2-5B3E-F2BBB2AFA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686" y="481043"/>
            <a:ext cx="10515600" cy="569343"/>
          </a:xfrm>
        </p:spPr>
        <p:txBody>
          <a:bodyPr>
            <a:noAutofit/>
          </a:bodyPr>
          <a:lstStyle/>
          <a:p>
            <a:pPr>
              <a:lnSpc>
                <a:spcPts val="5500"/>
              </a:lnSpc>
            </a:pPr>
            <a:r>
              <a:rPr lang="en-US" altLang="en-US" sz="3600" dirty="0" err="1">
                <a:latin typeface="Times New Roman" panose="02020603050405020304" charset="0"/>
                <a:cs typeface="Times New Roman" panose="02020603050405020304" charset="0"/>
              </a:rPr>
              <a:t>Функциональная</a:t>
            </a:r>
            <a:r>
              <a:rPr lang="en-US" altLang="zh-CN" sz="36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3600" dirty="0" err="1">
                <a:latin typeface="Times New Roman" panose="02020603050405020304" charset="0"/>
                <a:cs typeface="Times New Roman" panose="02020603050405020304" charset="0"/>
              </a:rPr>
              <a:t>модель</a:t>
            </a:r>
            <a:r>
              <a:rPr lang="en-US" altLang="zh-CN" sz="36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3600" dirty="0" err="1">
                <a:latin typeface="Times New Roman" panose="02020603050405020304" charset="0"/>
                <a:cs typeface="Times New Roman" panose="02020603050405020304" charset="0"/>
              </a:rPr>
              <a:t>разработанного</a:t>
            </a:r>
            <a:r>
              <a:rPr lang="en-US" altLang="zh-CN" sz="36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3600" dirty="0" err="1">
                <a:latin typeface="Times New Roman" panose="02020603050405020304" charset="0"/>
                <a:cs typeface="Times New Roman" panose="02020603050405020304" charset="0"/>
              </a:rPr>
              <a:t>метода</a:t>
            </a:r>
            <a:r>
              <a:rPr lang="en-US" altLang="zh-CN" sz="36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5D2521C-070F-F850-5FD8-E31F13EA4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D2179-D880-4E7E-97D2-571DE9C9E0F7}" type="slidenum">
              <a:rPr lang="ru-RU" smtClean="0"/>
              <a:t>6</a:t>
            </a:fld>
            <a:endParaRPr lang="ru-RU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3F66A29-10FA-7EA5-D984-F0D48BAFF9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745" y="1825625"/>
            <a:ext cx="9790510" cy="4351338"/>
          </a:xfrm>
        </p:spPr>
      </p:pic>
    </p:spTree>
    <p:extLst>
      <p:ext uri="{BB962C8B-B14F-4D97-AF65-F5344CB8AC3E}">
        <p14:creationId xmlns:p14="http://schemas.microsoft.com/office/powerpoint/2010/main" val="1045034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21E10B-3172-B4C7-77F5-080CBDAEB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119" y="164648"/>
            <a:ext cx="10515600" cy="920211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извлечения признаков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615E4EE-EC6E-AD0D-8DEE-60531D978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D2179-D880-4E7E-97D2-571DE9C9E0F7}" type="slidenum">
              <a:rPr lang="ru-RU" smtClean="0"/>
              <a:t>7</a:t>
            </a:fld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159BEB-F07A-889A-C57F-BD170F8FD1E3}"/>
              </a:ext>
            </a:extLst>
          </p:cNvPr>
          <p:cNvSpPr txBox="1"/>
          <p:nvPr/>
        </p:nvSpPr>
        <p:spPr>
          <a:xfrm>
            <a:off x="766119" y="1532238"/>
            <a:ext cx="640903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Входные: Нормализованное изображение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Выходные: Карта шумовых признаков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усиливает различия между оригинальным и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жатым с другим коэффициентов изображением, что позволяет выявлять следы фальсификации.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EDAC775-1BE0-96E7-5CE7-2979B868EF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806492"/>
            <a:ext cx="1598851" cy="5549858"/>
          </a:xfrm>
        </p:spPr>
      </p:pic>
    </p:spTree>
    <p:extLst>
      <p:ext uri="{BB962C8B-B14F-4D97-AF65-F5344CB8AC3E}">
        <p14:creationId xmlns:p14="http://schemas.microsoft.com/office/powerpoint/2010/main" val="3243449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8B092A-BEE1-E1DE-A48A-B2599F1DA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344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сверточной нейронной сети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4F7292F-A877-7903-C8AC-CB6A06C08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D2179-D880-4E7E-97D2-571DE9C9E0F7}" type="slidenum">
              <a:rPr lang="ru-RU" smtClean="0"/>
              <a:t>8</a:t>
            </a:fld>
            <a:endParaRPr lang="ru-RU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8F301C4-163F-F4FD-39C3-4096964045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952" y="1328252"/>
            <a:ext cx="8822724" cy="4822934"/>
          </a:xfrm>
        </p:spPr>
      </p:pic>
    </p:spTree>
    <p:extLst>
      <p:ext uri="{BB962C8B-B14F-4D97-AF65-F5344CB8AC3E}">
        <p14:creationId xmlns:p14="http://schemas.microsoft.com/office/powerpoint/2010/main" val="1826066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A354D-4B14-5769-F9E1-7D8171C66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сверточной нейронной сети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A304BE-7DE8-4A1B-D638-B40DFA86F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D2179-D880-4E7E-97D2-571DE9C9E0F7}" type="slidenum">
              <a:rPr lang="ru-RU" smtClean="0"/>
              <a:t>9</a:t>
            </a:fld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39F920-A855-3B49-F266-A6D989117B40}"/>
              </a:ext>
            </a:extLst>
          </p:cNvPr>
          <p:cNvSpPr txBox="1"/>
          <p:nvPr/>
        </p:nvSpPr>
        <p:spPr>
          <a:xfrm>
            <a:off x="1875484" y="1343818"/>
            <a:ext cx="18275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Слой адаптации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признаков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D933DA-81A9-2E96-2613-F8DC26E353BC}"/>
              </a:ext>
            </a:extLst>
          </p:cNvPr>
          <p:cNvSpPr txBox="1"/>
          <p:nvPr/>
        </p:nvSpPr>
        <p:spPr>
          <a:xfrm>
            <a:off x="5949778" y="1297651"/>
            <a:ext cx="1705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Слой внимания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34AE24-F70E-6743-C422-B807E644CC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9647" y="2269372"/>
            <a:ext cx="1419225" cy="37242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25CE36-EC15-56F0-1397-E7D537E1D1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848216"/>
            <a:ext cx="2472121" cy="4243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673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8A9874-AA9A-835A-9FD5-F10249857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586"/>
            <a:ext cx="10515600" cy="84257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Набор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C716F18-48B0-8E36-BCFB-031C187C41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115" y="1272543"/>
            <a:ext cx="10515600" cy="52851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обучения модели используются наборы данных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CASIAv2.</a:t>
            </a: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Общий объем: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5123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изображений вместе с масками.</a:t>
            </a:r>
            <a:endParaRPr lang="vi-V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Форматы: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JPG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JPEG, TIF, PNG.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CD0A64C-CE52-8435-1FED-9F5228F01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D2179-D880-4E7E-97D2-571DE9C9E0F7}" type="slidenum">
              <a:rPr lang="ru-RU" smtClean="0"/>
              <a:t>10</a:t>
            </a:fld>
            <a:endParaRPr lang="ru-RU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AEED15-7CC2-AFFB-A9B4-40FEC41DB2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7577" y="3146210"/>
            <a:ext cx="3559776" cy="23731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2B08488-3153-5B77-F5A5-D7CFB95AAB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146210"/>
            <a:ext cx="3657143" cy="24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882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16B6E8-F7EE-D713-0099-C2886EDF8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2217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Схема разработанного ПО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502A392-F1F6-F48D-D7B8-E95557E22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D2179-D880-4E7E-97D2-571DE9C9E0F7}" type="slidenum">
              <a:rPr lang="ru-RU" smtClean="0"/>
              <a:t>11</a:t>
            </a:fld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C21672-E384-01CB-D3FA-22A0D09995C7}"/>
              </a:ext>
            </a:extLst>
          </p:cNvPr>
          <p:cNvSpPr txBox="1"/>
          <p:nvPr/>
        </p:nvSpPr>
        <p:spPr>
          <a:xfrm>
            <a:off x="5257800" y="1999116"/>
            <a:ext cx="60960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400"/>
              </a:spcBef>
              <a:spcAft>
                <a:spcPts val="400"/>
              </a:spcAft>
              <a:buFont typeface="Arial" panose="020B0604020202020204"/>
              <a:buNone/>
            </a:pPr>
            <a:r>
              <a:rPr lang="en-US" altLang="en-US" sz="1800" b="1" i="0" dirty="0" err="1">
                <a:latin typeface="Times New Roman" panose="02020603050405020304" charset="0"/>
                <a:ea typeface="Segoe WPC"/>
                <a:cs typeface="Times New Roman" panose="02020603050405020304" charset="0"/>
              </a:rPr>
              <a:t>Иерархия</a:t>
            </a:r>
            <a:r>
              <a:rPr lang="en-US" altLang="zh-CN" sz="1800" b="1" i="0" dirty="0">
                <a:latin typeface="Times New Roman" panose="02020603050405020304" charset="0"/>
                <a:ea typeface="Segoe WPC"/>
                <a:cs typeface="Times New Roman" panose="02020603050405020304" charset="0"/>
              </a:rPr>
              <a:t> </a:t>
            </a:r>
            <a:r>
              <a:rPr lang="en-US" altLang="en-US" sz="1800" b="1" i="0" dirty="0" err="1">
                <a:latin typeface="Times New Roman" panose="02020603050405020304" charset="0"/>
                <a:ea typeface="Segoe WPC"/>
                <a:cs typeface="Times New Roman" panose="02020603050405020304" charset="0"/>
              </a:rPr>
              <a:t>модулей</a:t>
            </a:r>
            <a:r>
              <a:rPr lang="en-US" altLang="zh-CN" sz="1800" b="1" i="0" dirty="0">
                <a:latin typeface="Times New Roman" panose="02020603050405020304" charset="0"/>
                <a:ea typeface="Segoe WPC"/>
                <a:cs typeface="Times New Roman" panose="02020603050405020304" charset="0"/>
              </a:rPr>
              <a:t>: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Font typeface="Arial" panose="020B0604020202020204"/>
              <a:buNone/>
            </a:pPr>
            <a:endParaRPr lang="en-US" altLang="zh-CN" sz="1800" b="0" i="0" dirty="0">
              <a:latin typeface="Times New Roman" panose="02020603050405020304" charset="0"/>
              <a:ea typeface="Segoe WPC"/>
              <a:cs typeface="Times New Roman" panose="02020603050405020304" charset="0"/>
            </a:endParaRPr>
          </a:p>
          <a:p>
            <a:pPr marL="342900" indent="-34290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en-US" sz="1800" b="1" i="0" dirty="0" err="1">
                <a:latin typeface="Times New Roman" panose="02020603050405020304" charset="0"/>
                <a:ea typeface="Segoe WPC"/>
                <a:cs typeface="Times New Roman" panose="02020603050405020304" charset="0"/>
              </a:rPr>
              <a:t>Модуль</a:t>
            </a:r>
            <a:r>
              <a:rPr lang="en-US" altLang="zh-CN" sz="1800" b="1" i="0" dirty="0">
                <a:latin typeface="Times New Roman" panose="02020603050405020304" charset="0"/>
                <a:ea typeface="Segoe WPC"/>
                <a:cs typeface="Times New Roman" panose="02020603050405020304" charset="0"/>
              </a:rPr>
              <a:t> </a:t>
            </a:r>
            <a:r>
              <a:rPr lang="ru-RU" altLang="zh-CN" b="1" dirty="0">
                <a:latin typeface="Times New Roman" panose="02020603050405020304" charset="0"/>
                <a:ea typeface="Segoe WPC"/>
                <a:cs typeface="Times New Roman" panose="02020603050405020304" charset="0"/>
              </a:rPr>
              <a:t>пользовательского интерфейс</a:t>
            </a:r>
            <a:r>
              <a:rPr lang="en-US" altLang="zh-CN" sz="1800" b="1" i="0" dirty="0">
                <a:latin typeface="Times New Roman" panose="02020603050405020304" charset="0"/>
                <a:ea typeface="Segoe WPC"/>
                <a:cs typeface="Times New Roman" panose="02020603050405020304" charset="0"/>
              </a:rPr>
              <a:t>:</a:t>
            </a:r>
            <a:r>
              <a:rPr lang="en-US" altLang="zh-CN" sz="1800" b="0" i="0" dirty="0">
                <a:latin typeface="Times New Roman" panose="02020603050405020304" charset="0"/>
                <a:ea typeface="Segoe WPC"/>
                <a:cs typeface="Times New Roman" panose="02020603050405020304" charset="0"/>
              </a:rPr>
              <a:t> </a:t>
            </a:r>
            <a:r>
              <a:rPr lang="ru-RU" altLang="zh-CN" sz="1800" b="0" i="0" dirty="0">
                <a:latin typeface="Times New Roman" panose="02020603050405020304" charset="0"/>
                <a:ea typeface="Segoe WPC"/>
                <a:cs typeface="Times New Roman" panose="02020603050405020304" charset="0"/>
              </a:rPr>
              <a:t>Загрузка изображений и вывод результатов</a:t>
            </a:r>
            <a:r>
              <a:rPr lang="ru-RU" altLang="zh-CN" dirty="0">
                <a:latin typeface="Times New Roman" panose="02020603050405020304" charset="0"/>
                <a:ea typeface="Segoe WPC"/>
                <a:cs typeface="Times New Roman" panose="02020603050405020304" charset="0"/>
              </a:rPr>
              <a:t>.</a:t>
            </a:r>
            <a:endParaRPr lang="ru-RU" altLang="zh-CN" b="1" dirty="0">
              <a:latin typeface="Times New Roman" panose="02020603050405020304" charset="0"/>
              <a:ea typeface="Segoe WPC"/>
              <a:cs typeface="Times New Roman" panose="02020603050405020304" charset="0"/>
            </a:endParaRPr>
          </a:p>
          <a:p>
            <a:pPr marL="342900" indent="-34290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ru-RU" altLang="zh-CN" b="1" dirty="0">
                <a:latin typeface="Times New Roman" panose="02020603050405020304" charset="0"/>
                <a:ea typeface="Segoe WPC"/>
                <a:cs typeface="Times New Roman" panose="02020603050405020304" charset="0"/>
              </a:rPr>
              <a:t>Модуль предобработки изображения: </a:t>
            </a:r>
            <a:r>
              <a:rPr lang="ru-RU" altLang="zh-CN" dirty="0">
                <a:latin typeface="Times New Roman" panose="02020603050405020304" charset="0"/>
                <a:ea typeface="Segoe WPC"/>
                <a:cs typeface="Times New Roman" panose="02020603050405020304" charset="0"/>
              </a:rPr>
              <a:t>Изменение размера и нормализация изображения.</a:t>
            </a:r>
            <a:endParaRPr lang="ru-RU" altLang="zh-CN" sz="1800" i="0" dirty="0">
              <a:latin typeface="Times New Roman" panose="02020603050405020304" charset="0"/>
              <a:ea typeface="Segoe WPC"/>
              <a:cs typeface="Times New Roman" panose="02020603050405020304" charset="0"/>
            </a:endParaRP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A0010E8D-AF84-E291-2533-C0719E1237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43112"/>
            <a:ext cx="4038600" cy="2771775"/>
          </a:xfrm>
        </p:spPr>
      </p:pic>
    </p:spTree>
    <p:extLst>
      <p:ext uri="{BB962C8B-B14F-4D97-AF65-F5344CB8AC3E}">
        <p14:creationId xmlns:p14="http://schemas.microsoft.com/office/powerpoint/2010/main" val="4237121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558D77-1611-01DD-D68D-27D1CB517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923026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Метрики оценки качества метода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1B1B8E8-8846-06BA-BBA2-950F4A03DE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5720"/>
                <a:ext cx="10515600" cy="529275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F1-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мера:</a:t>
                </a:r>
              </a:p>
              <a:p>
                <a:pPr marL="0" indent="0">
                  <a:buNone/>
                </a:pPr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Tx/>
                  <a:buChar char="-"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Индекс Жаккара</a:t>
                </a:r>
                <a:r>
                  <a:rPr lang="vi-V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(IoU):</a:t>
                </a:r>
              </a:p>
              <a:p>
                <a:pPr marL="0" indent="0">
                  <a:buNone/>
                </a:pPr>
                <a:r>
                  <a:rPr lang="vi-V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IoU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vi-V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TP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vi-V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TP</m:t>
                        </m:r>
                        <m:r>
                          <a:rPr lang="vi-V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 </m:t>
                        </m:r>
                        <m:r>
                          <m:rPr>
                            <m:sty m:val="p"/>
                          </m:rPr>
                          <a:rPr lang="vi-V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FP</m:t>
                        </m:r>
                        <m:r>
                          <a:rPr lang="vi-V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vi-V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FN</m:t>
                        </m:r>
                      </m:den>
                    </m:f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где:</a:t>
                </a:r>
              </a:p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TP – истинный положительный результат</a:t>
                </a:r>
              </a:p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FP</a:t>
                </a:r>
                <a:r>
                  <a:rPr lang="vi-V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 ложный положительный результат</a:t>
                </a:r>
              </a:p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FN – ложный отрицательный результат</a:t>
                </a:r>
              </a:p>
              <a:p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1B1B8E8-8846-06BA-BBA2-950F4A03DE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5720"/>
                <a:ext cx="10515600" cy="5292755"/>
              </a:xfrm>
              <a:blipFill>
                <a:blip r:embed="rId3"/>
                <a:stretch>
                  <a:fillRect l="-1217" t="-2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Таблица 3">
                <a:extLst>
                  <a:ext uri="{FF2B5EF4-FFF2-40B4-BE49-F238E27FC236}">
                    <a16:creationId xmlns:a16="http://schemas.microsoft.com/office/drawing/2014/main" id="{9C13DCE2-56D9-C382-BDFE-7AA28EA84F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444598"/>
                  </p:ext>
                </p:extLst>
              </p:nvPr>
            </p:nvGraphicFramePr>
            <p:xfrm>
              <a:off x="1527265" y="1872049"/>
              <a:ext cx="9388893" cy="97650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29631">
                      <a:extLst>
                        <a:ext uri="{9D8B030D-6E8A-4147-A177-3AD203B41FA5}">
                          <a16:colId xmlns:a16="http://schemas.microsoft.com/office/drawing/2014/main" val="225846300"/>
                        </a:ext>
                      </a:extLst>
                    </a:gridCol>
                    <a:gridCol w="3129631">
                      <a:extLst>
                        <a:ext uri="{9D8B030D-6E8A-4147-A177-3AD203B41FA5}">
                          <a16:colId xmlns:a16="http://schemas.microsoft.com/office/drawing/2014/main" val="1072990993"/>
                        </a:ext>
                      </a:extLst>
                    </a:gridCol>
                    <a:gridCol w="3129631">
                      <a:extLst>
                        <a:ext uri="{9D8B030D-6E8A-4147-A177-3AD203B41FA5}">
                          <a16:colId xmlns:a16="http://schemas.microsoft.com/office/drawing/2014/main" val="3744870462"/>
                        </a:ext>
                      </a:extLst>
                    </a:gridCol>
                  </a:tblGrid>
                  <a:tr h="742512">
                    <a:tc>
                      <a:txBody>
                        <a:bodyPr/>
                        <a:lstStyle/>
                        <a:p>
                          <a:r>
                            <a:rPr lang="en-US" sz="24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Precision =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𝑇𝑃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𝑇𝑃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𝐹𝑃</m:t>
                                  </m:r>
                                </m:den>
                              </m:f>
                            </m:oMath>
                          </a14:m>
                          <a:endParaRPr lang="ru-RU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Recall =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𝑇𝑃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𝑇𝑃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𝐹𝑁</m:t>
                                  </m:r>
                                </m:den>
                              </m:f>
                            </m:oMath>
                          </a14:m>
                          <a:endParaRPr lang="ru-RU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endParaRPr lang="ru-RU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F1 = 2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𝑃𝑟𝑒𝑐𝑖𝑠𝑖𝑜𝑛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𝑅𝑒𝑐𝑎𝑙𝑙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𝑃𝑟𝑒𝑐𝑖𝑠𝑖𝑜𝑛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𝑅𝑒𝑐𝑎𝑙𝑙</m:t>
                                  </m:r>
                                </m:den>
                              </m:f>
                            </m:oMath>
                          </a14:m>
                          <a:endParaRPr lang="ru-RU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669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Таблица 3">
                <a:extLst>
                  <a:ext uri="{FF2B5EF4-FFF2-40B4-BE49-F238E27FC236}">
                    <a16:creationId xmlns:a16="http://schemas.microsoft.com/office/drawing/2014/main" id="{9C13DCE2-56D9-C382-BDFE-7AA28EA84F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444598"/>
                  </p:ext>
                </p:extLst>
              </p:nvPr>
            </p:nvGraphicFramePr>
            <p:xfrm>
              <a:off x="1527265" y="1872049"/>
              <a:ext cx="9388893" cy="97650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29631">
                      <a:extLst>
                        <a:ext uri="{9D8B030D-6E8A-4147-A177-3AD203B41FA5}">
                          <a16:colId xmlns:a16="http://schemas.microsoft.com/office/drawing/2014/main" val="225846300"/>
                        </a:ext>
                      </a:extLst>
                    </a:gridCol>
                    <a:gridCol w="3129631">
                      <a:extLst>
                        <a:ext uri="{9D8B030D-6E8A-4147-A177-3AD203B41FA5}">
                          <a16:colId xmlns:a16="http://schemas.microsoft.com/office/drawing/2014/main" val="1072990993"/>
                        </a:ext>
                      </a:extLst>
                    </a:gridCol>
                    <a:gridCol w="3129631">
                      <a:extLst>
                        <a:ext uri="{9D8B030D-6E8A-4147-A177-3AD203B41FA5}">
                          <a16:colId xmlns:a16="http://schemas.microsoft.com/office/drawing/2014/main" val="3744870462"/>
                        </a:ext>
                      </a:extLst>
                    </a:gridCol>
                  </a:tblGrid>
                  <a:tr h="97650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5" t="-621" r="-200584" b="-24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390" t="-621" r="-100975" b="-24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621" r="-778" b="-248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669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285859E-5F0F-9B23-46DA-3F6BFCA1C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D2179-D880-4E7E-97D2-571DE9C9E0F7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68484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76565D-F56E-5193-A1D9-43636F707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270" y="149466"/>
            <a:ext cx="11285838" cy="894332"/>
          </a:xfrm>
        </p:spPr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Влияние слоя внимания на качество модели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2260409-8CBE-E04F-3B85-B96E74DAE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D2179-D880-4E7E-97D2-571DE9C9E0F7}" type="slidenum">
              <a:rPr lang="ru-RU" smtClean="0"/>
              <a:t>13</a:t>
            </a:fld>
            <a:endParaRPr lang="ru-RU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A19CE1D-AE20-031D-E96D-3A43D14154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6672" y="1977081"/>
            <a:ext cx="5843436" cy="3639707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1436F7B-1CCB-C33A-0868-E87B789C26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552" y="2334642"/>
            <a:ext cx="4820323" cy="292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6458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B97A87-C574-3195-8CF8-1D328A0A5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497" y="32067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Влияние слоя адаптации признаков на качество модели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54427B2-49B8-A5D4-8177-AC6E624BA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D2179-D880-4E7E-97D2-571DE9C9E0F7}" type="slidenum">
              <a:rPr lang="ru-RU" smtClean="0"/>
              <a:t>14</a:t>
            </a:fld>
            <a:endParaRPr lang="ru-RU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C2BA9E5-B0A4-C3B1-E131-D335E42922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97" y="2380734"/>
            <a:ext cx="4658076" cy="2800869"/>
          </a:xfrm>
          <a:prstGeom prst="rect">
            <a:avLst/>
          </a:prstGeom>
        </p:spPr>
      </p:pic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5F57C34F-77C5-391A-EF69-579E6DF133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3622" y="1986027"/>
            <a:ext cx="6260881" cy="3590282"/>
          </a:xfrm>
        </p:spPr>
      </p:pic>
    </p:spTree>
    <p:extLst>
      <p:ext uri="{BB962C8B-B14F-4D97-AF65-F5344CB8AC3E}">
        <p14:creationId xmlns:p14="http://schemas.microsoft.com/office/powerpoint/2010/main" val="6371447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0A9D3B-933C-69BD-31F0-43C878B8E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Влияние качества изображения на качество модели</a:t>
            </a:r>
            <a:endParaRPr lang="ru-RU" sz="40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958E61C-4D8A-7AE0-F90D-1D61901FA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D2179-D880-4E7E-97D2-571DE9C9E0F7}" type="slidenum">
              <a:rPr lang="ru-RU" smtClean="0"/>
              <a:t>15</a:t>
            </a:fld>
            <a:endParaRPr lang="ru-RU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F594E00-B585-AA98-6E1F-8205C125EB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3431" y="1458911"/>
            <a:ext cx="7965137" cy="3940178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874FA25-6DDE-20E8-B41E-241D557490AD}"/>
              </a:ext>
            </a:extLst>
          </p:cNvPr>
          <p:cNvSpPr txBox="1"/>
          <p:nvPr/>
        </p:nvSpPr>
        <p:spPr>
          <a:xfrm>
            <a:off x="1005016" y="5554554"/>
            <a:ext cx="78287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сильном сжатии (JPEG =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80%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модель сохраняет приемлемую точность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41515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71FF09-4EB3-ECEF-3990-C8952638F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7607"/>
            <a:ext cx="10515600" cy="1066860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C72896-2680-493D-3394-862D67D1A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122"/>
            <a:ext cx="10604157" cy="49624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достигнута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 и реализован метод обнаружения фальсифицированного фрагмента на изображении с использованием сверточной нейронной сети.</a:t>
            </a:r>
            <a:endParaRPr lang="ru-RU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Все задачи решены:</a:t>
            </a:r>
          </a:p>
          <a:p>
            <a:pPr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приведен сравнительный анализ методов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обнаружения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фальсифицированного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фрагмента на изображении;</a:t>
            </a:r>
          </a:p>
          <a:p>
            <a:pPr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разработал метод обнаружения фальсифицированного фрагмента на изображении с использованием сверточной нейронной сети;</a:t>
            </a:r>
          </a:p>
          <a:p>
            <a:pPr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разработал программное обеспечение, реализующее данный метод;</a:t>
            </a:r>
          </a:p>
          <a:p>
            <a:pPr>
              <a:buFontTx/>
              <a:buChar char="-"/>
            </a:pP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приведены исследования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эффективности реализованного метода.</a:t>
            </a:r>
          </a:p>
          <a:p>
            <a:pPr marL="0" indent="0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00C8FFF-3137-9A7C-E043-541A77E28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D2179-D880-4E7E-97D2-571DE9C9E0F7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797011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1617</TotalTime>
  <Words>1111</Words>
  <Application>Microsoft Office PowerPoint</Application>
  <PresentationFormat>Widescreen</PresentationFormat>
  <Paragraphs>146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Cambria Math</vt:lpstr>
      <vt:lpstr>Times New Roman</vt:lpstr>
      <vt:lpstr>Тема Office</vt:lpstr>
      <vt:lpstr> Выпуская квалификационная работа Метод обнаружения фальсифицированного фрагмента на изображении с использованием сверточной нейронной сети</vt:lpstr>
      <vt:lpstr>Актуальность</vt:lpstr>
      <vt:lpstr>Цель и задачи ВКР</vt:lpstr>
      <vt:lpstr>Таблица сравнения существующих методов</vt:lpstr>
      <vt:lpstr>Формализация задачи </vt:lpstr>
      <vt:lpstr>Функциональная модель разработанного метода </vt:lpstr>
      <vt:lpstr>Алгоритм извлечения признаков</vt:lpstr>
      <vt:lpstr>Структура сверточной нейронной сети</vt:lpstr>
      <vt:lpstr>Структура сверточной нейронной сети</vt:lpstr>
      <vt:lpstr>Набор данных</vt:lpstr>
      <vt:lpstr>Схема разработанного ПО</vt:lpstr>
      <vt:lpstr>Метрики оценки качества метода</vt:lpstr>
      <vt:lpstr>Влияние слоя внимания на качество модели</vt:lpstr>
      <vt:lpstr>Влияние слоя адаптации признаков на качество модели</vt:lpstr>
      <vt:lpstr>Влияние качества изображения на качество модели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Метод классификации новостных текстов по тематике с помощью метода опорных векторов</dc:title>
  <dc:creator>Việt Anh Đinh</dc:creator>
  <cp:lastModifiedBy>Việt Anh Đinh</cp:lastModifiedBy>
  <cp:revision>129</cp:revision>
  <dcterms:created xsi:type="dcterms:W3CDTF">2024-05-18T19:36:39Z</dcterms:created>
  <dcterms:modified xsi:type="dcterms:W3CDTF">2026-06-24T09:08:16Z</dcterms:modified>
</cp:coreProperties>
</file>