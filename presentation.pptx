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4" r:id="rId3"/>
    <p:sldId id="257" r:id="rId4"/>
    <p:sldId id="272" r:id="rId5"/>
    <p:sldId id="275" r:id="rId6"/>
    <p:sldId id="260" r:id="rId7"/>
    <p:sldId id="261" r:id="rId8"/>
    <p:sldId id="262" r:id="rId9"/>
    <p:sldId id="276" r:id="rId10"/>
    <p:sldId id="263" r:id="rId11"/>
    <p:sldId id="273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9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9DDCD-6582-4FC2-87A2-FA2F2F89B44A}" type="datetimeFigureOut">
              <a:rPr lang="ru-RU" smtClean="0"/>
              <a:t>29.04.2026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721744-D43C-422F-B42D-F891E80211B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046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721744-D43C-422F-B42D-F891E80211B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800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2419E9-61C5-0913-8C39-E5E6E8A801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DD385EA-BA59-7105-7E9B-7644B63338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2AA877-6F94-B9C8-5826-85A1EF93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3E6BD-B4C5-4C5E-AC73-5E733A3CDA2C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E3AF89-C1D7-59B0-E3AB-90E6F903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12504A-A634-E6DF-B468-1D943E0D4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AA17D-77BD-E621-4EB5-880568205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5313A9-3976-9247-6C74-E202A62C7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184553-3A63-BDCA-8948-6B8C88B3F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54F16-EF89-444B-B5EE-096ABF5F48C7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4010BA-FA78-E4E8-F4BA-DB69307FA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4C8C82-2C85-9142-FF0A-7AD7572C0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080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525030-4020-85C6-4D8D-AD12DBEB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B92B2C5-F6AD-D931-71D7-596827B3D8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B1B383-EABA-68CD-AAE9-255F52BBA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6D5F6-1A3B-4480-A930-7B5D513F4301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7F35FA4-40F0-14A7-40AF-4095800B4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F54DA0-5382-7627-32D9-A36678A2E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02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55507A-BCD8-98E3-5E4A-EE47E8E1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4BFE02-FD6C-6CCB-2ED9-6EE8961383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427E4C9-BF2B-ACC5-76DF-07E832AEF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98DEE5-A3EF-3C41-9585-8BC775876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461997-42E7-4A3D-AFD9-A4B06E9A2CD4}" type="datetime1">
              <a:rPr lang="ru-RU" smtClean="0"/>
              <a:t>29.04.2026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10A972-1A25-7AC3-5D15-F307C3441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85279A5-65B7-1515-FC5F-CCBAC626E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945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D9FD64-3BF5-54F5-FFDA-718B1312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3E7AB9A-03C3-CBDE-C694-6CABA97EF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3AB335D-884B-68AF-2797-76786EB7A0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115B2A0-92A3-218C-F80F-702084723D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329AE2-E3D2-EF8B-B281-9EC26C5D3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249418D-C2AD-1A77-991C-7579D338B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1E04C-46DC-49F7-BB58-C0F68A028918}" type="datetime1">
              <a:rPr lang="ru-RU" smtClean="0"/>
              <a:t>29.04.2026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0BA6F8C-4FF4-E3CE-B358-B6452BCF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DDFF1F7-8201-0826-F101-532A15B00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939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22563C-5D24-4D76-13B9-AF07996C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7912F0F-8E4B-404D-5DFD-C29D5B5F5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DAAF7-7DCA-4B59-8EFF-412AF87020B2}" type="datetime1">
              <a:rPr lang="ru-RU" smtClean="0"/>
              <a:t>29.04.2026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FB0D400-8241-1D32-643A-8996435A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05CE4B-EBAB-2EE6-7F4E-B2592AF4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81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9AFD817-65BD-A276-4138-BD386B85B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C9192A-75AA-4314-85F0-C37E684E0F1B}" type="datetime1">
              <a:rPr lang="ru-RU" smtClean="0"/>
              <a:t>29.04.2026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CBC4988-F353-88A6-A886-81DFF8701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407517-0CB3-9DAC-0DCE-F00FBC49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6169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38FD0-F001-9D06-76F8-75BC076CE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003688-ACBB-164C-06DC-86A4F0B47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C96ABA7-6A2A-FFD5-EFBD-D20DFE797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9FDAC78-E5E0-71B1-95D0-76329A0D0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6CD73-1DC1-4CCB-8639-48CA902A4BE7}" type="datetime1">
              <a:rPr lang="ru-RU" smtClean="0"/>
              <a:t>29.04.2026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8AC4A67-5473-5828-77E4-1236F9E84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E3E453A-5F3B-16AA-787C-55B3BE8EC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547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EDE7D-92C0-E946-F67F-6616BA8E3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AB0D4F5-D12D-AD80-FD25-878BBCC7C9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748F82F-DE9E-26A7-3D0B-AB8E5E3621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569F38C-E9EC-D4CC-95B1-20779B46C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FEEA16-318D-49A8-B19A-6FCF07807A8C}" type="datetime1">
              <a:rPr lang="ru-RU" smtClean="0"/>
              <a:t>29.04.2026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912DDA9-7CDF-6B07-72DF-3839C571A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51CCB2-C6A9-C751-89E3-528707C1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581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F059C1-C794-92FD-83E5-11E491E6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3FCD33-CEBA-BA42-5CD9-B63621CADA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D1AD0E-BFF1-8B80-440B-AE0AF01FB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D4D24D-E8DE-46D2-B2EA-B77A9C5FF877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8CBF77-422A-A7DF-0A65-7C5DA22CA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3FFFF-BBCD-CCC8-F825-0BD99F0C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5135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A23D524-E148-8F32-4D3C-DE164E938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EF94F11-A4F2-5FCC-36F1-844020D519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76D9A2-D0E1-D235-FEF4-871216E9D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76F11-00B9-4E07-B295-6CA67D2F7E8B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2FDC97-8CE5-46DF-E23D-69AAF46CA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0D92F5-C716-BF19-D484-D8F35C706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0945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62242-9FD0-16C0-4C60-8E76DF97C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E0C8562-75BE-4E85-10CB-468066FC4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C30D18-78F2-500F-0E19-8E5972CE59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A6B07-345E-41F3-AB13-E427DFAF8E87}" type="datetime1">
              <a:rPr lang="ru-RU" smtClean="0"/>
              <a:t>29.04.2026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BA92D0C-E374-9A2D-3153-CCD152359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B8104-0E01-CBDA-2B7D-BE5D3FB4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FD2179-D880-4E7E-97D2-571DE9C9E0F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36934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95CE20-9DE0-D022-BD5E-46AA6B07E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692" y="2457002"/>
            <a:ext cx="10657129" cy="1784680"/>
          </a:xfrm>
        </p:spPr>
        <p:txBody>
          <a:bodyPr>
            <a:normAutofit fontScale="90000"/>
          </a:bodyPr>
          <a:lstStyle/>
          <a:p>
            <a:b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Выпуская квалификационная работа</a:t>
            </a:r>
            <a:br>
              <a:rPr lang="ru-RU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обнаружения фальсифицированного фрагмента на изображении с использованием сверточной нейронной сети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0D4E664-5641-0293-FBD7-F67EB68BF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9821" y="4590583"/>
            <a:ext cx="9144000" cy="1655762"/>
          </a:xfrm>
        </p:spPr>
        <p:txBody>
          <a:bodyPr/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Динь Вьет Ань ИУ7И-42М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Кострицкий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Александр Сергеевич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2A5A24-4F36-D88B-5BEC-9D85A3375FFF}"/>
              </a:ext>
            </a:extLst>
          </p:cNvPr>
          <p:cNvSpPr txBox="1"/>
          <p:nvPr/>
        </p:nvSpPr>
        <p:spPr>
          <a:xfrm>
            <a:off x="1413130" y="325135"/>
            <a:ext cx="100238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Федеральное государственное </a:t>
            </a:r>
            <a:r>
              <a:rPr lang="ru-RU" sz="1600" b="1" dirty="0"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автономное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 образовательное учреждение высшего образования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«Московский государственный технический университет</a:t>
            </a:r>
            <a:r>
              <a:rPr lang="en-US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имени Н.Э. Баумана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(национальный исследовательский университет)»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Liberation Serif"/>
              </a:rPr>
              <a:t>(МГТУ им. Н.Э. Баумана)</a:t>
            </a:r>
            <a:endParaRPr lang="ru-RU" sz="16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5C784ED-4674-0BC5-E267-DEAD8B26F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6" t="-84" r="-96" b="-84"/>
          <a:stretch>
            <a:fillRect/>
          </a:stretch>
        </p:blipFill>
        <p:spPr bwMode="auto">
          <a:xfrm>
            <a:off x="921559" y="294162"/>
            <a:ext cx="983142" cy="111110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DCAAD6F-539E-414B-9D89-3FFB2D88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3D56818-B2F9-EB82-1C8B-15A59C690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sz="2000" dirty="0">
                <a:solidFill>
                  <a:schemeClr val="tx1"/>
                </a:solidFill>
              </a:rPr>
              <a:t>2026г</a:t>
            </a:r>
          </a:p>
        </p:txBody>
      </p:sp>
    </p:spTree>
    <p:extLst>
      <p:ext uri="{BB962C8B-B14F-4D97-AF65-F5344CB8AC3E}">
        <p14:creationId xmlns:p14="http://schemas.microsoft.com/office/powerpoint/2010/main" val="2179937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21CA0-3710-6E43-3474-7C8E604D7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</a:rPr>
              <a:t>Актуальность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698C4-3A91-1166-D615-C52A0D39E0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Рост количества манипуляций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Доступность мощных инструментов редактирования и генеративного ИИ делает создание реалистичных подделок массовым.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Угроза информационной безопасности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Фальсификация изображений используется для дезинформации, финансового мошенничества, дискредитации личности и создания ложных улик.</a:t>
            </a: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Необходимость автоматизации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Требуются высокоточные системы для мониторинга больших потоков медиаданных в режиме реального времени.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методы обнаружения фальсифицированных фрагментов изображений имеют недостаточную точность и устойчивость к постобработке.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7E7922-3DD8-B9D0-0A7A-DB45CF1E7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930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038AC8-5211-EDC9-9276-EC67F7AC2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9607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ВКР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4702D5-4A91-962E-F6E1-C892DEA85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4429" y="1817387"/>
            <a:ext cx="1138572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разработка и программная реализация метода обнаружения фальсифицированного фрагмента на изображении с использованием сверточной нейронной сети.</a:t>
            </a:r>
          </a:p>
          <a:p>
            <a:pPr marL="0" indent="0">
              <a:buNone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сравнительный анализ методов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обнаружения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фальсифицированного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фрагмента на изображении 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метод обнаружения фальсифицированного фрагмента на изображении с использованием сверточной нейронной сети;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программное обеспечение, реализующее данный метод;</a:t>
            </a:r>
          </a:p>
          <a:p>
            <a:pPr>
              <a:buFontTx/>
              <a:buChar char="-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исследование эффективности реализованного метода.</a:t>
            </a:r>
          </a:p>
          <a:p>
            <a:pPr marL="0" indent="0">
              <a:buNone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02AC4-BC92-68E8-2060-262928C80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674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7">
            <a:extLst>
              <a:ext uri="{FF2B5EF4-FFF2-40B4-BE49-F238E27FC236}">
                <a16:creationId xmlns:a16="http://schemas.microsoft.com/office/drawing/2014/main" id="{267DB40E-8091-D919-7218-56E3EBE74F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3282434"/>
              </p:ext>
            </p:extLst>
          </p:nvPr>
        </p:nvGraphicFramePr>
        <p:xfrm>
          <a:off x="877329" y="2189846"/>
          <a:ext cx="10437341" cy="330243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3078728">
                  <a:extLst>
                    <a:ext uri="{9D8B030D-6E8A-4147-A177-3AD203B41FA5}">
                      <a16:colId xmlns:a16="http://schemas.microsoft.com/office/drawing/2014/main" val="730170553"/>
                    </a:ext>
                  </a:extLst>
                </a:gridCol>
                <a:gridCol w="2374721">
                  <a:extLst>
                    <a:ext uri="{9D8B030D-6E8A-4147-A177-3AD203B41FA5}">
                      <a16:colId xmlns:a16="http://schemas.microsoft.com/office/drawing/2014/main" val="939990101"/>
                    </a:ext>
                  </a:extLst>
                </a:gridCol>
                <a:gridCol w="2281881">
                  <a:extLst>
                    <a:ext uri="{9D8B030D-6E8A-4147-A177-3AD203B41FA5}">
                      <a16:colId xmlns:a16="http://schemas.microsoft.com/office/drawing/2014/main" val="1512173511"/>
                    </a:ext>
                  </a:extLst>
                </a:gridCol>
                <a:gridCol w="2702011">
                  <a:extLst>
                    <a:ext uri="{9D8B030D-6E8A-4147-A177-3AD203B41FA5}">
                      <a16:colId xmlns:a16="http://schemas.microsoft.com/office/drawing/2014/main" val="2326302492"/>
                    </a:ext>
                  </a:extLst>
                </a:gridCol>
              </a:tblGrid>
              <a:tr h="439947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Точность </a:t>
                      </a:r>
                      <a:endParaRPr lang="en-US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Устойчивость к постобработке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Обобщающая способность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2600354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на основе анализа целостности изображений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Низкая/Средняя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416408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Метод поиска ключевых точек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32766"/>
                  </a:ext>
                </a:extLst>
              </a:tr>
              <a:tr h="420088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Однопоточная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Средняя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8976660"/>
                  </a:ext>
                </a:extLst>
              </a:tr>
              <a:tr h="674093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Многопоточная сверточная нейронная сеть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Высокая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265067"/>
                  </a:ext>
                </a:extLst>
              </a:tr>
            </a:tbl>
          </a:graphicData>
        </a:graphic>
      </p:graphicFrame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E19B80D5-4A1C-14E7-835E-76CD5C9E0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173" y="163902"/>
            <a:ext cx="10107827" cy="1131293"/>
          </a:xfrm>
        </p:spPr>
        <p:txBody>
          <a:bodyPr>
            <a:noAutofit/>
          </a:bodyPr>
          <a:lstStyle/>
          <a:p>
            <a:pPr algn="l">
              <a:lnSpc>
                <a:spcPts val="5500"/>
              </a:lnSpc>
            </a:pP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Таблица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сравнения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с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уществующи</a:t>
            </a:r>
            <a:r>
              <a:rPr lang="ru-RU" alt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х</a:t>
            </a:r>
            <a:r>
              <a:rPr lang="en-US" sz="4000" kern="0" spc="-89" dirty="0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sz="4000" kern="0" spc="-89" dirty="0" err="1">
                <a:solidFill>
                  <a:srgbClr val="000000"/>
                </a:solidFill>
                <a:latin typeface="Times New Roman" panose="02020603050405020304" charset="0"/>
                <a:ea typeface="Source Serif Pro Semi Bold" pitchFamily="34" charset="-122"/>
                <a:cs typeface="Times New Roman" panose="02020603050405020304" charset="0"/>
                <a:sym typeface="+mn-ea"/>
              </a:rPr>
              <a:t>методов</a:t>
            </a:r>
            <a:endParaRPr lang="en-US" altLang="en-US" sz="4000" kern="0" spc="-89" dirty="0">
              <a:solidFill>
                <a:srgbClr val="000000"/>
              </a:solidFill>
              <a:latin typeface="Times New Roman" panose="02020603050405020304" charset="0"/>
              <a:ea typeface="Source Serif Pro Semi Bold" pitchFamily="34" charset="-122"/>
              <a:cs typeface="Times New Roman" panose="02020603050405020304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FE9F8FD-CD26-1F35-28CF-DDB3D1C9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83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C8BC1-D545-6D39-AEFF-4CBEF1523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Формализация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задачи</a:t>
            </a:r>
            <a:r>
              <a:rPr lang="en-US" altLang="zh-CN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9833AD1-4BFF-1B63-7C9F-66C91F556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023" y="1825625"/>
            <a:ext cx="723795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4FC4E-67B8-1E67-08BB-732214DD1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2687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AF7A93-4F00-23D2-5B3E-F2BBB2AFA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686" y="481043"/>
            <a:ext cx="10515600" cy="569343"/>
          </a:xfrm>
        </p:spPr>
        <p:txBody>
          <a:bodyPr>
            <a:noAutofit/>
          </a:bodyPr>
          <a:lstStyle/>
          <a:p>
            <a:pPr>
              <a:lnSpc>
                <a:spcPts val="5500"/>
              </a:lnSpc>
            </a:pP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Функциональная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модель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разработанного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en-US" sz="3600" dirty="0" err="1">
                <a:latin typeface="Times New Roman" panose="02020603050405020304" charset="0"/>
                <a:cs typeface="Times New Roman" panose="02020603050405020304" charset="0"/>
              </a:rPr>
              <a:t>метода</a:t>
            </a:r>
            <a:r>
              <a:rPr lang="en-US" altLang="zh-CN" sz="36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5D2521C-070F-F850-5FD8-E31F13EA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6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71E8535-7C79-DA23-3ACC-C866FA9AD0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678" y="1825625"/>
            <a:ext cx="9372643" cy="4351338"/>
          </a:xfrm>
        </p:spPr>
      </p:pic>
    </p:spTree>
    <p:extLst>
      <p:ext uri="{BB962C8B-B14F-4D97-AF65-F5344CB8AC3E}">
        <p14:creationId xmlns:p14="http://schemas.microsoft.com/office/powerpoint/2010/main" val="1045034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21E10B-3172-B4C7-77F5-080CBD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119" y="164648"/>
            <a:ext cx="10515600" cy="920211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извлечения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15E4EE-EC6E-AD0D-8DEE-60531D978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7</a:t>
            </a:fld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159BEB-F07A-889A-C57F-BD170F8FD1E3}"/>
              </a:ext>
            </a:extLst>
          </p:cNvPr>
          <p:cNvSpPr txBox="1"/>
          <p:nvPr/>
        </p:nvSpPr>
        <p:spPr>
          <a:xfrm>
            <a:off x="766119" y="1532238"/>
            <a:ext cx="64090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Входные: Нормализованное изображение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Выходные: Карта шумовых признаков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усиливает различия между оригинальным и пережатым изображением, что позволяет выявлять следы фальсификации.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4E75607-6ACE-BA33-965E-7172469A03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4071" y="856145"/>
            <a:ext cx="1758129" cy="5500205"/>
          </a:xfrm>
        </p:spPr>
      </p:pic>
    </p:spTree>
    <p:extLst>
      <p:ext uri="{BB962C8B-B14F-4D97-AF65-F5344CB8AC3E}">
        <p14:creationId xmlns:p14="http://schemas.microsoft.com/office/powerpoint/2010/main" val="32434499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8B092A-BEE1-E1DE-A48A-B2599F1DA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344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4F7292F-A877-7903-C8AC-CB6A06C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8</a:t>
            </a:fld>
            <a:endParaRPr lang="ru-RU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8CC4210E-522F-FAE5-D4B0-FFE0547E1B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992" y="1591897"/>
            <a:ext cx="8766016" cy="3674205"/>
          </a:xfrm>
        </p:spPr>
      </p:pic>
    </p:spTree>
    <p:extLst>
      <p:ext uri="{BB962C8B-B14F-4D97-AF65-F5344CB8AC3E}">
        <p14:creationId xmlns:p14="http://schemas.microsoft.com/office/powerpoint/2010/main" val="1826066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A354D-4B14-5769-F9E1-7D8171C6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сверточной нейронной сети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304BE-7DE8-4A1B-D638-B40DFA86F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9</a:t>
            </a:fld>
            <a:endParaRPr lang="ru-R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0DA-489D-97C3-22A8-EB61F3032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5065" y="2499717"/>
            <a:ext cx="1220228" cy="33379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30FE3D-9FE4-6561-DC8C-2925C969C6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910" y="2499717"/>
            <a:ext cx="1220228" cy="33379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DB933BA-E1BB-9205-7AA8-241F5D7E8B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235" y="2305518"/>
            <a:ext cx="1419225" cy="37242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1D08563-146C-DD64-52E9-E756B497C2FD}"/>
              </a:ext>
            </a:extLst>
          </p:cNvPr>
          <p:cNvSpPr txBox="1"/>
          <p:nvPr/>
        </p:nvSpPr>
        <p:spPr>
          <a:xfrm>
            <a:off x="1028433" y="1343818"/>
            <a:ext cx="17109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сверки 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уменьшения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размерности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536D870-FA42-BBFC-E877-BD76BD9766F3}"/>
              </a:ext>
            </a:extLst>
          </p:cNvPr>
          <p:cNvSpPr txBox="1"/>
          <p:nvPr/>
        </p:nvSpPr>
        <p:spPr>
          <a:xfrm>
            <a:off x="3272186" y="1343818"/>
            <a:ext cx="17109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сверки 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увеличения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размерности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39F920-A855-3B49-F266-A6D989117B40}"/>
              </a:ext>
            </a:extLst>
          </p:cNvPr>
          <p:cNvSpPr txBox="1"/>
          <p:nvPr/>
        </p:nvSpPr>
        <p:spPr>
          <a:xfrm>
            <a:off x="5530711" y="1342768"/>
            <a:ext cx="182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адаптации 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признаков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D933DA-81A9-2E96-2613-F8DC26E353BC}"/>
              </a:ext>
            </a:extLst>
          </p:cNvPr>
          <p:cNvSpPr txBox="1"/>
          <p:nvPr/>
        </p:nvSpPr>
        <p:spPr>
          <a:xfrm>
            <a:off x="8610600" y="1313077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Слой внимания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BF3CF3B-81CF-2EC5-DE7E-3A21029563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1481" y="1990149"/>
            <a:ext cx="2808043" cy="436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673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8A9874-AA9A-835A-9FD5-F102498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586"/>
            <a:ext cx="10515600" cy="84257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716F18-48B0-8E36-BCFB-031C187C4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115" y="1272543"/>
            <a:ext cx="10515600" cy="52851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обучения модели используются наборы данных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CASIAv2.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Общий объем:</a:t>
            </a:r>
            <a:r>
              <a:rPr lang="vi-V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5123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изображений вместе с масками.</a:t>
            </a:r>
            <a:endParaRPr lang="vi-V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Форматы: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JPG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JPEG, TIF, PNG.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CD0A64C-CE52-8435-1FED-9F5228F01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10</a:t>
            </a:fld>
            <a:endParaRPr lang="ru-RU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AEED15-7CC2-AFFB-A9B4-40FEC41DB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577" y="3146210"/>
            <a:ext cx="3559776" cy="23731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B08488-3153-5B77-F5A5-D7CFB95AA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146210"/>
            <a:ext cx="36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82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16B6E8-F7EE-D713-0099-C2886EDF8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2217"/>
            <a:ext cx="10515600" cy="1325563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разработанного ПО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02A392-F1F6-F48D-D7B8-E95557E22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11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BBCCDCD-DA7A-966C-FD07-175C840637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224" y="2417698"/>
            <a:ext cx="4038600" cy="2771775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C21672-E384-01CB-D3FA-22A0D09995C7}"/>
              </a:ext>
            </a:extLst>
          </p:cNvPr>
          <p:cNvSpPr txBox="1"/>
          <p:nvPr/>
        </p:nvSpPr>
        <p:spPr>
          <a:xfrm>
            <a:off x="5257800" y="1999116"/>
            <a:ext cx="609600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Иерархия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модулей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Font typeface="Arial" panose="020B0604020202020204"/>
              <a:buNone/>
            </a:pPr>
            <a:endParaRPr lang="en-US" altLang="zh-CN" sz="1800" b="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altLang="en-US" sz="1800" b="1" i="0" dirty="0" err="1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пользовательского интерфейс</a:t>
            </a:r>
            <a:r>
              <a:rPr lang="en-US" altLang="zh-CN" sz="1800" b="1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:</a:t>
            </a:r>
            <a:r>
              <a:rPr lang="en-US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 </a:t>
            </a:r>
            <a:r>
              <a:rPr lang="ru-RU" altLang="zh-CN" sz="1800" b="0" i="0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Загрузка изображений и вывод результатов</a:t>
            </a:r>
            <a:endParaRPr lang="ru-RU" altLang="zh-CN" b="1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  <a:p>
            <a:pPr marL="342900" indent="-34290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ru-RU" altLang="zh-CN" b="1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Модуль предобработки изображения: </a:t>
            </a:r>
            <a:r>
              <a:rPr lang="ru-RU" altLang="zh-CN" dirty="0">
                <a:latin typeface="Times New Roman" panose="02020603050405020304" charset="0"/>
                <a:ea typeface="Segoe WPC"/>
                <a:cs typeface="Times New Roman" panose="02020603050405020304" charset="0"/>
              </a:rPr>
              <a:t>Изменение размера и нормализация изображения</a:t>
            </a:r>
            <a:endParaRPr lang="ru-RU" altLang="zh-CN" sz="1800" i="0" dirty="0">
              <a:latin typeface="Times New Roman" panose="02020603050405020304" charset="0"/>
              <a:ea typeface="Segoe WPC"/>
              <a:cs typeface="Times New Roman" panose="020206030504050203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121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558D77-1611-01DD-D68D-27D1CB517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23026"/>
          </a:xfrm>
        </p:spPr>
        <p:txBody>
          <a:bodyPr>
            <a:norm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оценки качества метода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F1-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мера:</a:t>
                </a:r>
              </a:p>
              <a:p>
                <a:pPr marL="0" indent="0">
                  <a:buNone/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buFontTx/>
                  <a:buChar char="-"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IoU:</a:t>
                </a:r>
              </a:p>
              <a:p>
                <a:pPr marL="0" indent="0">
                  <a:buNone/>
                </a:pP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IoU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vi-VN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TP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 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FP</m:t>
                        </m:r>
                        <m:r>
                          <a:rPr lang="vi-VN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vi-VN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где: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TP – истинный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FP</a:t>
                </a:r>
                <a:r>
                  <a:rPr lang="vi-V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ложный положительный результат</a:t>
                </a: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FN – ложный отрицательный результат</a:t>
                </a:r>
              </a:p>
              <a:p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1B1B8E8-8846-06BA-BBA2-950F4A03DE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5720"/>
                <a:ext cx="10515600" cy="5292755"/>
              </a:xfrm>
              <a:blipFill>
                <a:blip r:embed="rId3"/>
                <a:stretch>
                  <a:fillRect l="-1217" t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742512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Precision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𝐹𝑃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Recall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𝑇𝑃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𝐹𝑁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  <a:p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F1 = 2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𝑃𝑟𝑒𝑐𝑖𝑠𝑖𝑜𝑛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𝑅𝑒𝑐𝑎𝑙𝑙</m:t>
                                  </m:r>
                                </m:den>
                              </m:f>
                            </m:oMath>
                          </a14:m>
                          <a:endParaRPr lang="ru-RU" sz="2400" b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9C13DCE2-56D9-C382-BDFE-7AA28EA84F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44598"/>
                  </p:ext>
                </p:extLst>
              </p:nvPr>
            </p:nvGraphicFramePr>
            <p:xfrm>
              <a:off x="1527265" y="1872049"/>
              <a:ext cx="9388893" cy="97650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129631">
                      <a:extLst>
                        <a:ext uri="{9D8B030D-6E8A-4147-A177-3AD203B41FA5}">
                          <a16:colId xmlns:a16="http://schemas.microsoft.com/office/drawing/2014/main" val="225846300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1072990993"/>
                        </a:ext>
                      </a:extLst>
                    </a:gridCol>
                    <a:gridCol w="3129631">
                      <a:extLst>
                        <a:ext uri="{9D8B030D-6E8A-4147-A177-3AD203B41FA5}">
                          <a16:colId xmlns:a16="http://schemas.microsoft.com/office/drawing/2014/main" val="3744870462"/>
                        </a:ext>
                      </a:extLst>
                    </a:gridCol>
                  </a:tblGrid>
                  <a:tr h="9765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95" t="-621" r="-200584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390" t="-621" r="-100975" b="-248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621" r="-778" b="-248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7466900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85859E-5F0F-9B23-46DA-3F6BFCA1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848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76565D-F56E-5193-A1D9-43636F707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270" y="149466"/>
            <a:ext cx="11285838" cy="894332"/>
          </a:xfrm>
        </p:spPr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внимания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2260409-8CBE-E04F-3B85-B96E74DAE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13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A19CE1D-AE20-031D-E96D-3A43D14154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6672" y="1977081"/>
            <a:ext cx="5843436" cy="3639707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436F7B-1CCB-C33A-0868-E87B789C2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552" y="2334642"/>
            <a:ext cx="4820323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5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97A87-C574-3195-8CF8-1D328A0A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497" y="32067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слоя адаптации признаков на качество модели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54427B2-49B8-A5D4-8177-AC6E624B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14</a:t>
            </a:fld>
            <a:endParaRPr lang="ru-RU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30866B0-30A9-F0EB-6FE3-2434E2C1F2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8669" y="2430162"/>
            <a:ext cx="6256476" cy="3514342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C2BA9E5-B0A4-C3B1-E131-D335E42922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97" y="2792626"/>
            <a:ext cx="4973174" cy="29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144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0A9D3B-933C-69BD-31F0-43C878B8E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Влияние качества изображения на качество модели</a:t>
            </a:r>
            <a:endParaRPr lang="ru-RU" sz="4000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958E61C-4D8A-7AE0-F90D-1D61901FA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15</a:t>
            </a:fld>
            <a:endParaRPr lang="ru-RU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F594E00-B585-AA98-6E1F-8205C125E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7847" y="1825625"/>
            <a:ext cx="8796305" cy="4351338"/>
          </a:xfrm>
        </p:spPr>
      </p:pic>
    </p:spTree>
    <p:extLst>
      <p:ext uri="{BB962C8B-B14F-4D97-AF65-F5344CB8AC3E}">
        <p14:creationId xmlns:p14="http://schemas.microsoft.com/office/powerpoint/2010/main" val="2104151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1FF09-4EB3-ECEF-3990-C8952638F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7607"/>
            <a:ext cx="10515600" cy="106686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C72896-2680-493D-3394-862D67D1A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8122"/>
            <a:ext cx="10604157" cy="49624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и реализован метод обнаружения фальсифицированного фрагмента на изображении с использованием сверточной нейронной сети.</a:t>
            </a: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задачи решены. Цель достигнута.</a:t>
            </a:r>
          </a:p>
          <a:p>
            <a:pPr marL="0" indent="0">
              <a:buNone/>
            </a:pPr>
            <a:endParaRPr lang="ru-RU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Дальнейшее развитие: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Оптимизация для работы в реальном времени.</a:t>
            </a: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Устойчивость к видам постобработки.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00C8FFF-3137-9A7C-E043-541A77E28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D2179-D880-4E7E-97D2-571DE9C9E0F7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9701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1137</TotalTime>
  <Words>464</Words>
  <Application>Microsoft Office PowerPoint</Application>
  <PresentationFormat>Widescreen</PresentationFormat>
  <Paragraphs>110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Times New Roman</vt:lpstr>
      <vt:lpstr>Тема Office</vt:lpstr>
      <vt:lpstr> Выпуская квалификационная работа Метод обнаружения фальсифицированного фрагмента на изображении с использованием сверточной нейронной сети</vt:lpstr>
      <vt:lpstr>Актуальность</vt:lpstr>
      <vt:lpstr>Цель и задачи ВКР</vt:lpstr>
      <vt:lpstr>Таблица сравнения существующих методов</vt:lpstr>
      <vt:lpstr>Формализация задачи </vt:lpstr>
      <vt:lpstr>Функциональная модель разработанного метода </vt:lpstr>
      <vt:lpstr>Алгоритм извлечения признаков</vt:lpstr>
      <vt:lpstr>Структура сверточной нейронной сети</vt:lpstr>
      <vt:lpstr>Структура сверточной нейронной сети</vt:lpstr>
      <vt:lpstr>Набор данных</vt:lpstr>
      <vt:lpstr>Схема разработанного ПО</vt:lpstr>
      <vt:lpstr>Метрики оценки качества метода</vt:lpstr>
      <vt:lpstr>Влияние слоя внимания на качество модели</vt:lpstr>
      <vt:lpstr>Влияние слоя адаптации признаков на качество модели</vt:lpstr>
      <vt:lpstr>Влияние качества изображения на качество модели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Метод классификации новостных текстов по тематике с помощью метода опорных векторов</dc:title>
  <dc:creator>Việt Anh Đinh</dc:creator>
  <cp:lastModifiedBy>Vanh</cp:lastModifiedBy>
  <cp:revision>88</cp:revision>
  <dcterms:created xsi:type="dcterms:W3CDTF">2024-05-18T19:36:39Z</dcterms:created>
  <dcterms:modified xsi:type="dcterms:W3CDTF">2026-04-29T07:54:46Z</dcterms:modified>
</cp:coreProperties>
</file>