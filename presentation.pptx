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6" r:id="rId2"/>
    <p:sldId id="274" r:id="rId3"/>
    <p:sldId id="257" r:id="rId4"/>
    <p:sldId id="272" r:id="rId5"/>
    <p:sldId id="275" r:id="rId6"/>
    <p:sldId id="260" r:id="rId7"/>
    <p:sldId id="261" r:id="rId8"/>
    <p:sldId id="262" r:id="rId9"/>
    <p:sldId id="276" r:id="rId10"/>
    <p:sldId id="263" r:id="rId11"/>
    <p:sldId id="273" r:id="rId12"/>
    <p:sldId id="265" r:id="rId13"/>
    <p:sldId id="266" r:id="rId14"/>
    <p:sldId id="267" r:id="rId15"/>
    <p:sldId id="268" r:id="rId16"/>
    <p:sldId id="269" r:id="rId1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93D81CF-94F2-401A-BA57-92F5A7B2D0C5}" styleName="Средний стиль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09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114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CF9DDCD-6582-4FC2-87A2-FA2F2F89B44A}" type="datetimeFigureOut">
              <a:rPr lang="ru-RU" smtClean="0"/>
              <a:t>23.06.2026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721744-D43C-422F-B42D-F891E80211B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850462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721744-D43C-422F-B42D-F891E80211BA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658000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B2419E9-61C5-0913-8C39-E5E6E8A801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4DD385EA-BA59-7105-7E9B-7644B63338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42AA877-6F94-B9C8-5826-85A1EF939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D3E6BD-B4C5-4C5E-AC73-5E733A3CDA2C}" type="datetime1">
              <a:rPr lang="ru-RU" smtClean="0"/>
              <a:t>23.06.2026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AE3AF89-C1D7-59B0-E3AB-90E6F903F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412504A-A634-E6DF-B468-1D943E0D42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285308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F5AA17D-77BD-E621-4EB5-8805682055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35313A9-3976-9247-6C74-E202A62C73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2184553-3A63-BDCA-8948-6B8C88B3F0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954F16-EF89-444B-B5EE-096ABF5F48C7}" type="datetime1">
              <a:rPr lang="ru-RU" smtClean="0"/>
              <a:t>23.06.2026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E4010BA-FA78-E4E8-F4BA-DB69307FA7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04C8C82-2C85-9142-FF0A-7AD7572C04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190800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4525030-4020-85C6-4D8D-AD12DBEB9F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B92B2C5-F6AD-D931-71D7-596827B3D8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0B1B383-EABA-68CD-AAE9-255F52BBA2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6D5F6-1A3B-4480-A930-7B5D513F4301}" type="datetime1">
              <a:rPr lang="ru-RU" smtClean="0"/>
              <a:t>23.06.2026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7F35FA4-40F0-14A7-40AF-4095800B49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2F54DA0-5382-7627-32D9-A36678A2E4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445020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355507A-BCD8-98E3-5E4A-EE47E8E1A9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C4BFE02-FD6C-6CCB-2ED9-6EE8961383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7427E4C9-BF2B-ACC5-76DF-07E832AEFE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398DEE5-A3EF-3C41-9585-8BC7758765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461997-42E7-4A3D-AFD9-A4B06E9A2CD4}" type="datetime1">
              <a:rPr lang="ru-RU" smtClean="0"/>
              <a:t>23.06.2026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F10A972-1A25-7AC3-5D15-F307C3441D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85279A5-65B7-1515-FC5F-CCBAC626E4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299451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FD9FD64-3BF5-54F5-FFDA-718B131251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3E7AB9A-03C3-CBDE-C694-6CABA97EF8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B3AB335D-884B-68AF-2797-76786EB7A0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115B2A0-92A3-218C-F80F-702084723D0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8B329AE2-E3D2-EF8B-B281-9EC26C5D3F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C249418D-C2AD-1A77-991C-7579D338B2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D1E04C-46DC-49F7-BB58-C0F68A028918}" type="datetime1">
              <a:rPr lang="ru-RU" smtClean="0"/>
              <a:t>23.06.2026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10BA6F8C-4FF4-E3CE-B358-B6452BCFC1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9DDFF1F7-8201-0826-F101-532A15B006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09394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F22563C-5D24-4D76-13B9-AF07996C69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87912F0F-8E4B-404D-5DFD-C29D5B5F5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DAAF7-7DCA-4B59-8EFF-412AF87020B2}" type="datetime1">
              <a:rPr lang="ru-RU" smtClean="0"/>
              <a:t>23.06.2026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6FB0D400-8241-1D32-643A-8996435AD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205CE4B-EBAB-2EE6-7F4E-B2592AF488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878198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D9AFD817-65BD-A276-4138-BD386B85B8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9192A-75AA-4314-85F0-C37E684E0F1B}" type="datetime1">
              <a:rPr lang="ru-RU" smtClean="0"/>
              <a:t>23.06.2026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3CBC4988-F353-88A6-A886-81DFF87019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3407517-0CB3-9DAC-0DCE-F00FBC4982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561692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4538FD0-F001-9D06-76F8-75BC076CE4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E003688-ACBB-164C-06DC-86A4F0B476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C96ABA7-6A2A-FFD5-EFBD-D20DFE7979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39FDAC78-E5E0-71B1-95D0-76329A0D0B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A6CD73-1DC1-4CCB-8639-48CA902A4BE7}" type="datetime1">
              <a:rPr lang="ru-RU" smtClean="0"/>
              <a:t>23.06.2026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8AC4A67-5473-5828-77E4-1236F9E848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E3E453A-5F3B-16AA-787C-55B3BE8EC5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45476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A4EDE7D-92C0-E946-F67F-6616BA8E3E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BAB0D4F5-D12D-AD80-FD25-878BBCC7C95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748F82F-DE9E-26A7-3D0B-AB8E5E3621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569F38C-E9EC-D4CC-95B1-20779B46C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FEEA16-318D-49A8-B19A-6FCF07807A8C}" type="datetime1">
              <a:rPr lang="ru-RU" smtClean="0"/>
              <a:t>23.06.2026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912DDA9-7CDF-6B07-72DF-3839C571A4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B51CCB2-C6A9-C751-89E3-528707C10A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505814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2F059C1-C794-92FD-83E5-11E491E6D1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F53FCD33-CEBA-BA42-5CD9-B63621CADA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2D1AD0E-BFF1-8B80-440B-AE0AF01FB7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D4D24D-E8DE-46D2-B2EA-B77A9C5FF877}" type="datetime1">
              <a:rPr lang="ru-RU" smtClean="0"/>
              <a:t>23.06.2026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B8CBF77-422A-A7DF-0A65-7C5DA22CA7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2E3FFFF-BBCD-CCC8-F825-0BD99F0C3A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905135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AA23D524-E148-8F32-4D3C-DE164E93825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DEF94F11-A4F2-5FCC-36F1-844020D519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376D9A2-D0E1-D235-FEF4-871216E9D9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B76F11-00B9-4E07-B295-6CA67D2F7E8B}" type="datetime1">
              <a:rPr lang="ru-RU" smtClean="0"/>
              <a:t>23.06.2026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02FDC97-8CE5-46DF-E23D-69AAF46CA8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F0D92F5-C716-BF19-D484-D8F35C7066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909459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AE62242-9FD0-16C0-4C60-8E76DF97CF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E0C8562-75BE-4E85-10CB-468066FC49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5C30D18-78F2-500F-0E19-8E5972CE593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9DA6B07-345E-41F3-AB13-E427DFAF8E87}" type="datetime1">
              <a:rPr lang="ru-RU" smtClean="0"/>
              <a:t>23.06.2026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BA92D0C-E374-9A2D-3153-CCD1523595D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87B8104-0E01-CBDA-2B7D-BE5D3FB417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FD2179-D880-4E7E-97D2-571DE9C9E0F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436934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B95CE20-9DE0-D022-BD5E-46AA6B07E6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6692" y="2457002"/>
            <a:ext cx="10657129" cy="1784680"/>
          </a:xfrm>
        </p:spPr>
        <p:txBody>
          <a:bodyPr>
            <a:normAutofit fontScale="90000"/>
          </a:bodyPr>
          <a:lstStyle/>
          <a:p>
            <a:b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Выпуская квалификационная работа</a:t>
            </a:r>
            <a:br>
              <a:rPr lang="ru-RU"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Метод обнаружения фальсифицированного фрагмента на изображении с использованием сверточной нейронной сети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00D4E664-5641-0293-FBD7-F67EB68BFD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9821" y="4590583"/>
            <a:ext cx="9144000" cy="1655762"/>
          </a:xfrm>
        </p:spPr>
        <p:txBody>
          <a:bodyPr/>
          <a:lstStyle/>
          <a:p>
            <a:pPr algn="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Студент: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Динь Вьет Ань ИУ7И-42М</a:t>
            </a:r>
          </a:p>
          <a:p>
            <a:pPr algn="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Руководитель: </a:t>
            </a:r>
            <a:r>
              <a:rPr lang="ru-RU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Кострицкий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Александр Сергеевич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2A5A24-4F36-D88B-5BEC-9D85A3375FFF}"/>
              </a:ext>
            </a:extLst>
          </p:cNvPr>
          <p:cNvSpPr txBox="1"/>
          <p:nvPr/>
        </p:nvSpPr>
        <p:spPr>
          <a:xfrm>
            <a:off x="1084052" y="316897"/>
            <a:ext cx="10023895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Liberation Serif"/>
              </a:rPr>
              <a:t>Федеральное государственное </a:t>
            </a:r>
            <a:r>
              <a:rPr lang="ru-RU" sz="1600" b="1" dirty="0">
                <a:latin typeface="Times New Roman" panose="02020603050405020304" pitchFamily="18" charset="0"/>
                <a:ea typeface="Times New Roman" panose="02020603050405020304" pitchFamily="18" charset="0"/>
                <a:cs typeface="Liberation Serif"/>
              </a:rPr>
              <a:t>автономное</a:t>
            </a:r>
            <a:r>
              <a:rPr lang="ru-RU" sz="1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Liberation Serif"/>
              </a:rPr>
              <a:t> образовательное учреждение высшего образования</a:t>
            </a:r>
            <a:endParaRPr lang="ru-RU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ctr"/>
            <a:r>
              <a:rPr lang="ru-RU" sz="1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Liberation Serif"/>
              </a:rPr>
              <a:t>«Московский государственный технический университет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Liberation Serif"/>
              </a:rPr>
              <a:t>имени Н.Э. Баумана</a:t>
            </a:r>
            <a:endParaRPr lang="ru-RU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ctr"/>
            <a:r>
              <a:rPr lang="ru-RU" sz="1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Liberation Serif"/>
              </a:rPr>
              <a:t>(национальный исследовательский университет)»</a:t>
            </a:r>
            <a:endParaRPr lang="ru-RU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ctr"/>
            <a:r>
              <a:rPr lang="ru-RU" sz="1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Liberation Serif"/>
              </a:rPr>
              <a:t>(МГТУ им. Н.Э. Баумана)</a:t>
            </a:r>
            <a:endParaRPr lang="ru-RU" sz="1600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2DCAAD6F-539E-414B-9D89-3FFB2D88EB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1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03D56818-B2F9-EB82-1C8B-15A59C6907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sz="2000" dirty="0">
                <a:solidFill>
                  <a:schemeClr val="tx1"/>
                </a:solidFill>
              </a:rPr>
              <a:t>2026г</a:t>
            </a:r>
          </a:p>
        </p:txBody>
      </p:sp>
    </p:spTree>
    <p:extLst>
      <p:ext uri="{BB962C8B-B14F-4D97-AF65-F5344CB8AC3E}">
        <p14:creationId xmlns:p14="http://schemas.microsoft.com/office/powerpoint/2010/main" val="21799378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21CA0-3710-6E43-3474-7C8E604D72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kern="0" spc="-89" dirty="0" err="1">
                <a:solidFill>
                  <a:srgbClr val="000000"/>
                </a:solidFill>
                <a:latin typeface="Times New Roman" panose="02020603050405020304" charset="0"/>
                <a:ea typeface="Source Serif Pro Semi Bold" pitchFamily="34" charset="-122"/>
                <a:cs typeface="Times New Roman" panose="02020603050405020304" charset="0"/>
              </a:rPr>
              <a:t>Актуальность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6698C4-3A91-1166-D615-C52A0D39E0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Рост количества манипуляций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Доступность мощных инструментов редактирования и генеративного ИИ делает создание реалистичных подделок массовым.</a:t>
            </a:r>
          </a:p>
          <a:p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Угроза информационной безопасности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Фальсификация изображений используется для дезинформации, финансового мошенничества, дискредитации личности и создания ложных улик.</a:t>
            </a:r>
          </a:p>
          <a:p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Необходимость автоматизации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Требуются высокоточные системы для мониторинга больших потоков медиаданных в режиме реального времени.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Проблема:</a:t>
            </a:r>
            <a:r>
              <a:rPr lang="vi-V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существующие методы обнаружения фальсифицированных фрагментов изображений имеют недостаточную точность и устойчивость к постобработке.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7E7922-3DD8-B9D0-0A7A-DB45CF1E7F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639300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038AC8-5211-EDC9-9276-EC67F7AC29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49607"/>
          </a:xfrm>
        </p:spPr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 и задачи ВКР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D4702D5-4A91-962E-F6E1-C892DEA851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4429" y="1817387"/>
            <a:ext cx="11385722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разработка и программная реализация метода обнаружения фальсифицированного фрагмента на изображении с использованием сверточной нейронной сети.</a:t>
            </a:r>
          </a:p>
          <a:p>
            <a:pPr marL="0" indent="0">
              <a:buNone/>
            </a:pP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Задачи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провести сравнительный анализ методов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обнаружения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фальсифицированного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фрагмента на изображении;</a:t>
            </a:r>
          </a:p>
          <a:p>
            <a:pPr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разработать метод обнаружения фальсифицированного фрагмента на изображении с использованием сверточной нейронной сети;</a:t>
            </a:r>
          </a:p>
          <a:p>
            <a:pPr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разработать программное обеспечение, реализующее данный метод;</a:t>
            </a:r>
          </a:p>
          <a:p>
            <a:pPr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провести исследование эффективности реализованного метода.</a:t>
            </a:r>
          </a:p>
          <a:p>
            <a:pPr marL="0" indent="0">
              <a:buNone/>
            </a:pP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A402AC4-BC92-68E8-2060-262928C80B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66745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Объект 7">
            <a:extLst>
              <a:ext uri="{FF2B5EF4-FFF2-40B4-BE49-F238E27FC236}">
                <a16:creationId xmlns:a16="http://schemas.microsoft.com/office/drawing/2014/main" id="{267DB40E-8091-D919-7218-56E3EBE74F7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83282434"/>
              </p:ext>
            </p:extLst>
          </p:nvPr>
        </p:nvGraphicFramePr>
        <p:xfrm>
          <a:off x="877329" y="2189846"/>
          <a:ext cx="10437341" cy="3302439"/>
        </p:xfrm>
        <a:graphic>
          <a:graphicData uri="http://schemas.openxmlformats.org/drawingml/2006/table">
            <a:tbl>
              <a:tblPr>
                <a:tableStyleId>{793D81CF-94F2-401A-BA57-92F5A7B2D0C5}</a:tableStyleId>
              </a:tblPr>
              <a:tblGrid>
                <a:gridCol w="3078728">
                  <a:extLst>
                    <a:ext uri="{9D8B030D-6E8A-4147-A177-3AD203B41FA5}">
                      <a16:colId xmlns:a16="http://schemas.microsoft.com/office/drawing/2014/main" val="730170553"/>
                    </a:ext>
                  </a:extLst>
                </a:gridCol>
                <a:gridCol w="2374721">
                  <a:extLst>
                    <a:ext uri="{9D8B030D-6E8A-4147-A177-3AD203B41FA5}">
                      <a16:colId xmlns:a16="http://schemas.microsoft.com/office/drawing/2014/main" val="939990101"/>
                    </a:ext>
                  </a:extLst>
                </a:gridCol>
                <a:gridCol w="2281881">
                  <a:extLst>
                    <a:ext uri="{9D8B030D-6E8A-4147-A177-3AD203B41FA5}">
                      <a16:colId xmlns:a16="http://schemas.microsoft.com/office/drawing/2014/main" val="1512173511"/>
                    </a:ext>
                  </a:extLst>
                </a:gridCol>
                <a:gridCol w="2702011">
                  <a:extLst>
                    <a:ext uri="{9D8B030D-6E8A-4147-A177-3AD203B41FA5}">
                      <a16:colId xmlns:a16="http://schemas.microsoft.com/office/drawing/2014/main" val="2326302492"/>
                    </a:ext>
                  </a:extLst>
                </a:gridCol>
              </a:tblGrid>
              <a:tr h="439947">
                <a:tc>
                  <a:txBody>
                    <a:bodyPr/>
                    <a:lstStyle/>
                    <a:p>
                      <a:pPr algn="ctr"/>
                      <a:r>
                        <a:rPr lang="ru-RU" sz="1800" dirty="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Метод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Точность </a:t>
                      </a:r>
                      <a:endParaRPr lang="en-US" dirty="0">
                        <a:ln w="3175">
                          <a:noFill/>
                        </a:ln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dirty="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Устойчивость к постобработке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dirty="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Обобщающая способность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82600354"/>
                  </a:ext>
                </a:extLst>
              </a:tr>
              <a:tr h="674093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Метод на основе анализа целостности изображений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Низкая/Средняя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Низкая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Низкая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416408"/>
                  </a:ext>
                </a:extLst>
              </a:tr>
              <a:tr h="674093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Метод поиска ключевых точек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Средняя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Средняя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Низкая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0732766"/>
                  </a:ext>
                </a:extLst>
              </a:tr>
              <a:tr h="420088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Однопоточная сверточная нейронная сеть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Средняя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Низкая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Средняя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38976660"/>
                  </a:ext>
                </a:extLst>
              </a:tr>
              <a:tr h="674093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Многопоточная сверточная нейронная сеть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Высокая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Высокая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Высокая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3265067"/>
                  </a:ext>
                </a:extLst>
              </a:tr>
            </a:tbl>
          </a:graphicData>
        </a:graphic>
      </p:graphicFrame>
      <p:sp>
        <p:nvSpPr>
          <p:cNvPr id="8" name="Заголовок 7">
            <a:extLst>
              <a:ext uri="{FF2B5EF4-FFF2-40B4-BE49-F238E27FC236}">
                <a16:creationId xmlns:a16="http://schemas.microsoft.com/office/drawing/2014/main" id="{E19B80D5-4A1C-14E7-835E-76CD5C9E01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0173" y="163902"/>
            <a:ext cx="10107827" cy="1131293"/>
          </a:xfrm>
        </p:spPr>
        <p:txBody>
          <a:bodyPr>
            <a:noAutofit/>
          </a:bodyPr>
          <a:lstStyle/>
          <a:p>
            <a:pPr algn="l">
              <a:lnSpc>
                <a:spcPts val="5500"/>
              </a:lnSpc>
            </a:pPr>
            <a:r>
              <a:rPr lang="en-US" sz="4000" kern="0" spc="-89" dirty="0" err="1">
                <a:solidFill>
                  <a:srgbClr val="000000"/>
                </a:solidFill>
                <a:latin typeface="Times New Roman" panose="02020603050405020304" charset="0"/>
                <a:ea typeface="Source Serif Pro Semi Bold" pitchFamily="34" charset="-122"/>
                <a:cs typeface="Times New Roman" panose="02020603050405020304" charset="0"/>
                <a:sym typeface="+mn-ea"/>
              </a:rPr>
              <a:t>Таблица</a:t>
            </a:r>
            <a:r>
              <a:rPr lang="en-US" sz="4000" kern="0" spc="-89" dirty="0">
                <a:solidFill>
                  <a:srgbClr val="000000"/>
                </a:solidFill>
                <a:latin typeface="Times New Roman" panose="02020603050405020304" charset="0"/>
                <a:ea typeface="Source Serif Pro Semi Bold" pitchFamily="34" charset="-122"/>
                <a:cs typeface="Times New Roman" panose="02020603050405020304" charset="0"/>
                <a:sym typeface="+mn-ea"/>
              </a:rPr>
              <a:t> </a:t>
            </a:r>
            <a:r>
              <a:rPr lang="en-US" sz="4000" kern="0" spc="-89" dirty="0" err="1">
                <a:solidFill>
                  <a:srgbClr val="000000"/>
                </a:solidFill>
                <a:latin typeface="Times New Roman" panose="02020603050405020304" charset="0"/>
                <a:ea typeface="Source Serif Pro Semi Bold" pitchFamily="34" charset="-122"/>
                <a:cs typeface="Times New Roman" panose="02020603050405020304" charset="0"/>
                <a:sym typeface="+mn-ea"/>
              </a:rPr>
              <a:t>сравнения</a:t>
            </a:r>
            <a:r>
              <a:rPr lang="ru-RU" altLang="en-US" sz="4000" kern="0" spc="-89" dirty="0">
                <a:solidFill>
                  <a:srgbClr val="000000"/>
                </a:solidFill>
                <a:latin typeface="Times New Roman" panose="02020603050405020304" charset="0"/>
                <a:ea typeface="Source Serif Pro Semi Bold" pitchFamily="34" charset="-122"/>
                <a:cs typeface="Times New Roman" panose="02020603050405020304" charset="0"/>
                <a:sym typeface="+mn-ea"/>
              </a:rPr>
              <a:t> с</a:t>
            </a:r>
            <a:r>
              <a:rPr lang="en-US" sz="4000" kern="0" spc="-89" dirty="0" err="1">
                <a:solidFill>
                  <a:srgbClr val="000000"/>
                </a:solidFill>
                <a:latin typeface="Times New Roman" panose="02020603050405020304" charset="0"/>
                <a:ea typeface="Source Serif Pro Semi Bold" pitchFamily="34" charset="-122"/>
                <a:cs typeface="Times New Roman" panose="02020603050405020304" charset="0"/>
                <a:sym typeface="+mn-ea"/>
              </a:rPr>
              <a:t>уществующи</a:t>
            </a:r>
            <a:r>
              <a:rPr lang="ru-RU" altLang="en-US" sz="4000" kern="0" spc="-89" dirty="0">
                <a:solidFill>
                  <a:srgbClr val="000000"/>
                </a:solidFill>
                <a:latin typeface="Times New Roman" panose="02020603050405020304" charset="0"/>
                <a:ea typeface="Source Serif Pro Semi Bold" pitchFamily="34" charset="-122"/>
                <a:cs typeface="Times New Roman" panose="02020603050405020304" charset="0"/>
                <a:sym typeface="+mn-ea"/>
              </a:rPr>
              <a:t>х</a:t>
            </a:r>
            <a:r>
              <a:rPr lang="en-US" sz="4000" kern="0" spc="-89" dirty="0">
                <a:solidFill>
                  <a:srgbClr val="000000"/>
                </a:solidFill>
                <a:latin typeface="Times New Roman" panose="02020603050405020304" charset="0"/>
                <a:ea typeface="Source Serif Pro Semi Bold" pitchFamily="34" charset="-122"/>
                <a:cs typeface="Times New Roman" panose="02020603050405020304" charset="0"/>
                <a:sym typeface="+mn-ea"/>
              </a:rPr>
              <a:t> </a:t>
            </a:r>
            <a:r>
              <a:rPr lang="en-US" sz="4000" kern="0" spc="-89" dirty="0" err="1">
                <a:solidFill>
                  <a:srgbClr val="000000"/>
                </a:solidFill>
                <a:latin typeface="Times New Roman" panose="02020603050405020304" charset="0"/>
                <a:ea typeface="Source Serif Pro Semi Bold" pitchFamily="34" charset="-122"/>
                <a:cs typeface="Times New Roman" panose="02020603050405020304" charset="0"/>
                <a:sym typeface="+mn-ea"/>
              </a:rPr>
              <a:t>методов</a:t>
            </a:r>
            <a:endParaRPr lang="en-US" altLang="en-US" sz="4000" kern="0" spc="-89" dirty="0">
              <a:solidFill>
                <a:srgbClr val="000000"/>
              </a:solidFill>
              <a:latin typeface="Times New Roman" panose="02020603050405020304" charset="0"/>
              <a:ea typeface="Source Serif Pro Semi Bold" pitchFamily="34" charset="-122"/>
              <a:cs typeface="Times New Roman" panose="02020603050405020304" charset="0"/>
            </a:endParaRP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AFE9F8FD-CD26-1F35-28CF-DDB3D1C921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608329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C8BC1-D545-6D39-AEFF-4CBEF1523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Формализация</a:t>
            </a:r>
            <a:r>
              <a:rPr lang="en-US" altLang="zh-CN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задачи</a:t>
            </a:r>
            <a:r>
              <a:rPr lang="en-US" altLang="zh-CN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74FC4E-67B8-1E67-08BB-732214DD17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5</a:t>
            </a:fld>
            <a:endParaRPr lang="ru-RU"/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CB0DB399-DBEE-609D-387C-28C5E85B00E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4756" y="1825625"/>
            <a:ext cx="8022488" cy="4351338"/>
          </a:xfrm>
        </p:spPr>
      </p:pic>
    </p:spTree>
    <p:extLst>
      <p:ext uri="{BB962C8B-B14F-4D97-AF65-F5344CB8AC3E}">
        <p14:creationId xmlns:p14="http://schemas.microsoft.com/office/powerpoint/2010/main" val="17926879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6AF7A93-4F00-23D2-5B3E-F2BBB2AFA4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686" y="481043"/>
            <a:ext cx="10515600" cy="569343"/>
          </a:xfrm>
        </p:spPr>
        <p:txBody>
          <a:bodyPr>
            <a:noAutofit/>
          </a:bodyPr>
          <a:lstStyle/>
          <a:p>
            <a:pPr>
              <a:lnSpc>
                <a:spcPts val="5500"/>
              </a:lnSpc>
            </a:pPr>
            <a:r>
              <a:rPr lang="en-US" altLang="en-US" sz="3600" dirty="0" err="1">
                <a:latin typeface="Times New Roman" panose="02020603050405020304" charset="0"/>
                <a:cs typeface="Times New Roman" panose="02020603050405020304" charset="0"/>
              </a:rPr>
              <a:t>Функциональная</a:t>
            </a:r>
            <a:r>
              <a:rPr lang="en-US" altLang="zh-CN" sz="3600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3600" dirty="0" err="1">
                <a:latin typeface="Times New Roman" panose="02020603050405020304" charset="0"/>
                <a:cs typeface="Times New Roman" panose="02020603050405020304" charset="0"/>
              </a:rPr>
              <a:t>модель</a:t>
            </a:r>
            <a:r>
              <a:rPr lang="en-US" altLang="zh-CN" sz="3600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3600" dirty="0" err="1">
                <a:latin typeface="Times New Roman" panose="02020603050405020304" charset="0"/>
                <a:cs typeface="Times New Roman" panose="02020603050405020304" charset="0"/>
              </a:rPr>
              <a:t>разработанного</a:t>
            </a:r>
            <a:r>
              <a:rPr lang="en-US" altLang="zh-CN" sz="3600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3600" dirty="0" err="1">
                <a:latin typeface="Times New Roman" panose="02020603050405020304" charset="0"/>
                <a:cs typeface="Times New Roman" panose="02020603050405020304" charset="0"/>
              </a:rPr>
              <a:t>метода</a:t>
            </a:r>
            <a:r>
              <a:rPr lang="en-US" altLang="zh-CN" sz="3600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05D2521C-070F-F850-5FD8-E31F13EA4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6</a:t>
            </a:fld>
            <a:endParaRPr lang="ru-RU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13F66A29-10FA-7EA5-D984-F0D48BAFF90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0745" y="1825625"/>
            <a:ext cx="9790510" cy="4351338"/>
          </a:xfrm>
        </p:spPr>
      </p:pic>
    </p:spTree>
    <p:extLst>
      <p:ext uri="{BB962C8B-B14F-4D97-AF65-F5344CB8AC3E}">
        <p14:creationId xmlns:p14="http://schemas.microsoft.com/office/powerpoint/2010/main" val="10450346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921E10B-3172-B4C7-77F5-080CBDAEBF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119" y="164648"/>
            <a:ext cx="10515600" cy="920211"/>
          </a:xfrm>
        </p:spPr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Алгоритм извлечения признаков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E615E4EE-EC6E-AD0D-8DEE-60531D978F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7</a:t>
            </a:fld>
            <a:endParaRPr lang="ru-RU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8159BEB-F07A-889A-C57F-BD170F8FD1E3}"/>
              </a:ext>
            </a:extLst>
          </p:cNvPr>
          <p:cNvSpPr txBox="1"/>
          <p:nvPr/>
        </p:nvSpPr>
        <p:spPr>
          <a:xfrm>
            <a:off x="766119" y="1532238"/>
            <a:ext cx="640903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Входные: Нормализованное изображение</a:t>
            </a:r>
          </a:p>
          <a:p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Выходные: Карта шумовых признаков</a:t>
            </a:r>
          </a:p>
          <a:p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Алгоритм усиливает различия между оригинальным и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жатым с другим коэффициентов изображением, что позволяет выявлять следы фальсификации.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2EDAC775-1BE0-96E7-5CE7-2979B868EFF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0600" y="806492"/>
            <a:ext cx="1598851" cy="5549858"/>
          </a:xfrm>
        </p:spPr>
      </p:pic>
    </p:spTree>
    <p:extLst>
      <p:ext uri="{BB962C8B-B14F-4D97-AF65-F5344CB8AC3E}">
        <p14:creationId xmlns:p14="http://schemas.microsoft.com/office/powerpoint/2010/main" val="32434499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38B092A-BEE1-E1DE-A48A-B2599F1DA9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5344"/>
            <a:ext cx="10515600" cy="1325563"/>
          </a:xfrm>
        </p:spPr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Структура сверточной нейронной сети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4F7292F-A877-7903-C8AC-CB6A06C08C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8</a:t>
            </a:fld>
            <a:endParaRPr lang="ru-RU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88F301C4-163F-F4FD-39C3-40969640455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6952" y="1328252"/>
            <a:ext cx="8822724" cy="4822934"/>
          </a:xfrm>
        </p:spPr>
      </p:pic>
    </p:spTree>
    <p:extLst>
      <p:ext uri="{BB962C8B-B14F-4D97-AF65-F5344CB8AC3E}">
        <p14:creationId xmlns:p14="http://schemas.microsoft.com/office/powerpoint/2010/main" val="18260667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AA354D-4B14-5769-F9E1-7D8171C66F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Структура сверточной нейронной сети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A304BE-7DE8-4A1B-D638-B40DFA86F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9</a:t>
            </a:fld>
            <a:endParaRPr lang="ru-RU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439F920-A855-3B49-F266-A6D989117B40}"/>
              </a:ext>
            </a:extLst>
          </p:cNvPr>
          <p:cNvSpPr txBox="1"/>
          <p:nvPr/>
        </p:nvSpPr>
        <p:spPr>
          <a:xfrm>
            <a:off x="1875484" y="1343818"/>
            <a:ext cx="182755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Слой адаптации 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признаков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3D933DA-81A9-2E96-2613-F8DC26E353BC}"/>
              </a:ext>
            </a:extLst>
          </p:cNvPr>
          <p:cNvSpPr txBox="1"/>
          <p:nvPr/>
        </p:nvSpPr>
        <p:spPr>
          <a:xfrm>
            <a:off x="5949778" y="1297651"/>
            <a:ext cx="17059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Слой внимания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834AE24-F70E-6743-C422-B807E644CC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79647" y="2269372"/>
            <a:ext cx="1419225" cy="37242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725CE36-EC15-56F0-1397-E7D537E1D1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848216"/>
            <a:ext cx="2472121" cy="4243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66737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68A9874-AA9A-835A-9FD5-F10249857F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3586"/>
            <a:ext cx="10515600" cy="842573"/>
          </a:xfrm>
        </p:spPr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Набор данных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C716F18-48B0-8E36-BCFB-031C187C41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1115" y="1272543"/>
            <a:ext cx="10515600" cy="52851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Для обучения модели используются наборы данных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CASIAv2.</a:t>
            </a:r>
          </a:p>
          <a:p>
            <a:pPr marL="0" indent="0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Общий объем:</a:t>
            </a:r>
            <a:r>
              <a:rPr lang="vi-V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5123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изображений вместе с масками.</a:t>
            </a:r>
            <a:endParaRPr lang="vi-V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Форматы: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JPG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JPEG, TIF, PNG.</a:t>
            </a:r>
          </a:p>
          <a:p>
            <a:pPr marL="0" indent="0">
              <a:buNone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CD0A64C-CE52-8435-1FED-9F5228F01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10</a:t>
            </a:fld>
            <a:endParaRPr lang="ru-RU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7AEED15-7CC2-AFFB-A9B4-40FEC41DB2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7577" y="3146210"/>
            <a:ext cx="3559776" cy="237318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2B08488-3153-5B77-F5A5-D7CFB95AABF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3146210"/>
            <a:ext cx="3657143" cy="2438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18825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B16B6E8-F7EE-D713-0099-C2886EDF87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72217"/>
            <a:ext cx="10515600" cy="1325563"/>
          </a:xfrm>
        </p:spPr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Схема разработанного ПО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502A392-F1F6-F48D-D7B8-E95557E22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11</a:t>
            </a:fld>
            <a:endParaRPr lang="ru-RU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0C21672-E384-01CB-D3FA-22A0D09995C7}"/>
              </a:ext>
            </a:extLst>
          </p:cNvPr>
          <p:cNvSpPr txBox="1"/>
          <p:nvPr/>
        </p:nvSpPr>
        <p:spPr>
          <a:xfrm>
            <a:off x="5257800" y="1999116"/>
            <a:ext cx="6096000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400"/>
              </a:spcBef>
              <a:spcAft>
                <a:spcPts val="400"/>
              </a:spcAft>
              <a:buFont typeface="Arial" panose="020B0604020202020204"/>
              <a:buNone/>
            </a:pPr>
            <a:r>
              <a:rPr lang="en-US" altLang="en-US" sz="1800" b="1" i="0" dirty="0" err="1">
                <a:latin typeface="Times New Roman" panose="02020603050405020304" charset="0"/>
                <a:ea typeface="Segoe WPC"/>
                <a:cs typeface="Times New Roman" panose="02020603050405020304" charset="0"/>
              </a:rPr>
              <a:t>Иерархия</a:t>
            </a:r>
            <a:r>
              <a:rPr lang="en-US" altLang="zh-CN" sz="1800" b="1" i="0" dirty="0">
                <a:latin typeface="Times New Roman" panose="02020603050405020304" charset="0"/>
                <a:ea typeface="Segoe WPC"/>
                <a:cs typeface="Times New Roman" panose="02020603050405020304" charset="0"/>
              </a:rPr>
              <a:t> </a:t>
            </a:r>
            <a:r>
              <a:rPr lang="en-US" altLang="en-US" sz="1800" b="1" i="0" dirty="0" err="1">
                <a:latin typeface="Times New Roman" panose="02020603050405020304" charset="0"/>
                <a:ea typeface="Segoe WPC"/>
                <a:cs typeface="Times New Roman" panose="02020603050405020304" charset="0"/>
              </a:rPr>
              <a:t>модулей</a:t>
            </a:r>
            <a:r>
              <a:rPr lang="en-US" altLang="zh-CN" sz="1800" b="1" i="0" dirty="0">
                <a:latin typeface="Times New Roman" panose="02020603050405020304" charset="0"/>
                <a:ea typeface="Segoe WPC"/>
                <a:cs typeface="Times New Roman" panose="02020603050405020304" charset="0"/>
              </a:rPr>
              <a:t>:</a:t>
            </a:r>
          </a:p>
          <a:p>
            <a:pPr marL="0" indent="0">
              <a:spcBef>
                <a:spcPts val="400"/>
              </a:spcBef>
              <a:spcAft>
                <a:spcPts val="400"/>
              </a:spcAft>
              <a:buFont typeface="Arial" panose="020B0604020202020204"/>
              <a:buNone/>
            </a:pPr>
            <a:endParaRPr lang="en-US" altLang="zh-CN" sz="1800" b="0" i="0" dirty="0">
              <a:latin typeface="Times New Roman" panose="02020603050405020304" charset="0"/>
              <a:ea typeface="Segoe WPC"/>
              <a:cs typeface="Times New Roman" panose="02020603050405020304" charset="0"/>
            </a:endParaRPr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altLang="en-US" sz="1800" b="1" i="0" dirty="0" err="1">
                <a:latin typeface="Times New Roman" panose="02020603050405020304" charset="0"/>
                <a:ea typeface="Segoe WPC"/>
                <a:cs typeface="Times New Roman" panose="02020603050405020304" charset="0"/>
              </a:rPr>
              <a:t>Модуль</a:t>
            </a:r>
            <a:r>
              <a:rPr lang="en-US" altLang="zh-CN" sz="1800" b="1" i="0" dirty="0">
                <a:latin typeface="Times New Roman" panose="02020603050405020304" charset="0"/>
                <a:ea typeface="Segoe WPC"/>
                <a:cs typeface="Times New Roman" panose="02020603050405020304" charset="0"/>
              </a:rPr>
              <a:t> </a:t>
            </a:r>
            <a:r>
              <a:rPr lang="ru-RU" altLang="zh-CN" b="1" dirty="0">
                <a:latin typeface="Times New Roman" panose="02020603050405020304" charset="0"/>
                <a:ea typeface="Segoe WPC"/>
                <a:cs typeface="Times New Roman" panose="02020603050405020304" charset="0"/>
              </a:rPr>
              <a:t>пользовательского интерфейс</a:t>
            </a:r>
            <a:r>
              <a:rPr lang="en-US" altLang="zh-CN" sz="1800" b="1" i="0" dirty="0">
                <a:latin typeface="Times New Roman" panose="02020603050405020304" charset="0"/>
                <a:ea typeface="Segoe WPC"/>
                <a:cs typeface="Times New Roman" panose="02020603050405020304" charset="0"/>
              </a:rPr>
              <a:t>:</a:t>
            </a:r>
            <a:r>
              <a:rPr lang="en-US" altLang="zh-CN" sz="1800" b="0" i="0" dirty="0">
                <a:latin typeface="Times New Roman" panose="02020603050405020304" charset="0"/>
                <a:ea typeface="Segoe WPC"/>
                <a:cs typeface="Times New Roman" panose="02020603050405020304" charset="0"/>
              </a:rPr>
              <a:t> </a:t>
            </a:r>
            <a:r>
              <a:rPr lang="ru-RU" altLang="zh-CN" sz="1800" b="0" i="0" dirty="0">
                <a:latin typeface="Times New Roman" panose="02020603050405020304" charset="0"/>
                <a:ea typeface="Segoe WPC"/>
                <a:cs typeface="Times New Roman" panose="02020603050405020304" charset="0"/>
              </a:rPr>
              <a:t>Загрузка изображений и вывод результатов</a:t>
            </a:r>
            <a:r>
              <a:rPr lang="ru-RU" altLang="zh-CN" dirty="0">
                <a:latin typeface="Times New Roman" panose="02020603050405020304" charset="0"/>
                <a:ea typeface="Segoe WPC"/>
                <a:cs typeface="Times New Roman" panose="02020603050405020304" charset="0"/>
              </a:rPr>
              <a:t>.</a:t>
            </a:r>
            <a:endParaRPr lang="ru-RU" altLang="zh-CN" b="1" dirty="0">
              <a:latin typeface="Times New Roman" panose="02020603050405020304" charset="0"/>
              <a:ea typeface="Segoe WPC"/>
              <a:cs typeface="Times New Roman" panose="02020603050405020304" charset="0"/>
            </a:endParaRPr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ru-RU" altLang="zh-CN" b="1" dirty="0">
                <a:latin typeface="Times New Roman" panose="02020603050405020304" charset="0"/>
                <a:ea typeface="Segoe WPC"/>
                <a:cs typeface="Times New Roman" panose="02020603050405020304" charset="0"/>
              </a:rPr>
              <a:t>Модуль предобработки изображения: </a:t>
            </a:r>
            <a:r>
              <a:rPr lang="ru-RU" altLang="zh-CN" dirty="0">
                <a:latin typeface="Times New Roman" panose="02020603050405020304" charset="0"/>
                <a:ea typeface="Segoe WPC"/>
                <a:cs typeface="Times New Roman" panose="02020603050405020304" charset="0"/>
              </a:rPr>
              <a:t>Изменение размера и нормализация изображения.</a:t>
            </a:r>
            <a:endParaRPr lang="ru-RU" altLang="zh-CN" sz="1800" i="0" dirty="0">
              <a:latin typeface="Times New Roman" panose="02020603050405020304" charset="0"/>
              <a:ea typeface="Segoe WPC"/>
              <a:cs typeface="Times New Roman" panose="02020603050405020304" charset="0"/>
            </a:endParaRPr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A0010E8D-AF84-E291-2533-C0719E12378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043112"/>
            <a:ext cx="4038600" cy="2771775"/>
          </a:xfrm>
        </p:spPr>
      </p:pic>
    </p:spTree>
    <p:extLst>
      <p:ext uri="{BB962C8B-B14F-4D97-AF65-F5344CB8AC3E}">
        <p14:creationId xmlns:p14="http://schemas.microsoft.com/office/powerpoint/2010/main" val="42371216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1558D77-1611-01DD-D68D-27D1CB5176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923026"/>
          </a:xfrm>
        </p:spPr>
        <p:txBody>
          <a:bodyPr>
            <a:norm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Метрики оценки качества метода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61B1B8E8-8846-06BA-BBA2-950F4A03DE6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45720"/>
                <a:ext cx="10515600" cy="529275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- 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F1-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мера:</a:t>
                </a:r>
              </a:p>
              <a:p>
                <a:pPr marL="0" indent="0">
                  <a:buNone/>
                </a:pPr>
                <a:endParaRPr lang="ru-RU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buFontTx/>
                  <a:buChar char="-"/>
                </a:pP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Индекс Жаккара</a:t>
                </a:r>
                <a:r>
                  <a:rPr lang="vi-V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(IoU):</a:t>
                </a:r>
              </a:p>
              <a:p>
                <a:pPr marL="0" indent="0">
                  <a:buNone/>
                </a:pPr>
                <a:r>
                  <a:rPr lang="vi-V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	IoU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vi-VN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vi-VN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TP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vi-VN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TP</m:t>
                        </m:r>
                        <m:r>
                          <a:rPr lang="vi-VN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+ </m:t>
                        </m:r>
                        <m:r>
                          <m:rPr>
                            <m:sty m:val="p"/>
                          </m:rPr>
                          <a:rPr lang="vi-VN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FP</m:t>
                        </m:r>
                        <m:r>
                          <a:rPr lang="vi-VN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vi-VN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FN</m:t>
                        </m:r>
                      </m:den>
                    </m:f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где:</a:t>
                </a:r>
              </a:p>
              <a:p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TP – истинный положительный результат</a:t>
                </a:r>
              </a:p>
              <a:p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FP</a:t>
                </a:r>
                <a:r>
                  <a:rPr lang="vi-V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– ложный положительный результат</a:t>
                </a:r>
              </a:p>
              <a:p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FN – ложный отрицательный результат</a:t>
                </a:r>
              </a:p>
              <a:p>
                <a:endParaRPr lang="ru-RU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61B1B8E8-8846-06BA-BBA2-950F4A03DE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45720"/>
                <a:ext cx="10515600" cy="5292755"/>
              </a:xfrm>
              <a:blipFill>
                <a:blip r:embed="rId3"/>
                <a:stretch>
                  <a:fillRect l="-1217" t="-20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Таблица 3">
                <a:extLst>
                  <a:ext uri="{FF2B5EF4-FFF2-40B4-BE49-F238E27FC236}">
                    <a16:creationId xmlns:a16="http://schemas.microsoft.com/office/drawing/2014/main" id="{9C13DCE2-56D9-C382-BDFE-7AA28EA84F8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444598"/>
                  </p:ext>
                </p:extLst>
              </p:nvPr>
            </p:nvGraphicFramePr>
            <p:xfrm>
              <a:off x="1527265" y="1872049"/>
              <a:ext cx="9388893" cy="976503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129631">
                      <a:extLst>
                        <a:ext uri="{9D8B030D-6E8A-4147-A177-3AD203B41FA5}">
                          <a16:colId xmlns:a16="http://schemas.microsoft.com/office/drawing/2014/main" val="225846300"/>
                        </a:ext>
                      </a:extLst>
                    </a:gridCol>
                    <a:gridCol w="3129631">
                      <a:extLst>
                        <a:ext uri="{9D8B030D-6E8A-4147-A177-3AD203B41FA5}">
                          <a16:colId xmlns:a16="http://schemas.microsoft.com/office/drawing/2014/main" val="1072990993"/>
                        </a:ext>
                      </a:extLst>
                    </a:gridCol>
                    <a:gridCol w="3129631">
                      <a:extLst>
                        <a:ext uri="{9D8B030D-6E8A-4147-A177-3AD203B41FA5}">
                          <a16:colId xmlns:a16="http://schemas.microsoft.com/office/drawing/2014/main" val="3744870462"/>
                        </a:ext>
                      </a:extLst>
                    </a:gridCol>
                  </a:tblGrid>
                  <a:tr h="742512">
                    <a:tc>
                      <a:txBody>
                        <a:bodyPr/>
                        <a:lstStyle/>
                        <a:p>
                          <a:r>
                            <a:rPr lang="en-US" sz="2400" b="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Precision =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𝑇𝑃</m:t>
                                  </m:r>
                                </m:num>
                                <m:den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𝑇𝑃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𝐹𝑃</m:t>
                                  </m:r>
                                </m:den>
                              </m:f>
                            </m:oMath>
                          </a14:m>
                          <a:endParaRPr lang="ru-RU" sz="2400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400" b="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Recall =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𝑇𝑃</m:t>
                                  </m:r>
                                </m:num>
                                <m:den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𝑇𝑃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𝐹𝑁</m:t>
                                  </m:r>
                                </m:den>
                              </m:f>
                            </m:oMath>
                          </a14:m>
                          <a:endParaRPr lang="ru-RU" sz="2400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  <a:p>
                          <a:endParaRPr lang="ru-RU" sz="2400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b="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F1 = 2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𝑃𝑟𝑒𝑐𝑖𝑠𝑖𝑜𝑛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𝑅𝑒𝑐𝑎𝑙𝑙</m:t>
                                  </m:r>
                                </m:num>
                                <m:den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𝑃𝑟𝑒𝑐𝑖𝑠𝑖𝑜𝑛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𝑅𝑒𝑐𝑎𝑙𝑙</m:t>
                                  </m:r>
                                </m:den>
                              </m:f>
                            </m:oMath>
                          </a14:m>
                          <a:endParaRPr lang="ru-RU" sz="2400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7466900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Таблица 3">
                <a:extLst>
                  <a:ext uri="{FF2B5EF4-FFF2-40B4-BE49-F238E27FC236}">
                    <a16:creationId xmlns:a16="http://schemas.microsoft.com/office/drawing/2014/main" id="{9C13DCE2-56D9-C382-BDFE-7AA28EA84F8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444598"/>
                  </p:ext>
                </p:extLst>
              </p:nvPr>
            </p:nvGraphicFramePr>
            <p:xfrm>
              <a:off x="1527265" y="1872049"/>
              <a:ext cx="9388893" cy="976503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129631">
                      <a:extLst>
                        <a:ext uri="{9D8B030D-6E8A-4147-A177-3AD203B41FA5}">
                          <a16:colId xmlns:a16="http://schemas.microsoft.com/office/drawing/2014/main" val="225846300"/>
                        </a:ext>
                      </a:extLst>
                    </a:gridCol>
                    <a:gridCol w="3129631">
                      <a:extLst>
                        <a:ext uri="{9D8B030D-6E8A-4147-A177-3AD203B41FA5}">
                          <a16:colId xmlns:a16="http://schemas.microsoft.com/office/drawing/2014/main" val="1072990993"/>
                        </a:ext>
                      </a:extLst>
                    </a:gridCol>
                    <a:gridCol w="3129631">
                      <a:extLst>
                        <a:ext uri="{9D8B030D-6E8A-4147-A177-3AD203B41FA5}">
                          <a16:colId xmlns:a16="http://schemas.microsoft.com/office/drawing/2014/main" val="3744870462"/>
                        </a:ext>
                      </a:extLst>
                    </a:gridCol>
                  </a:tblGrid>
                  <a:tr h="97650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95" t="-621" r="-200584" b="-248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0390" t="-621" r="-100975" b="-248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00000" t="-621" r="-778" b="-248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7466900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E285859E-5F0F-9B23-46DA-3F6BFCA1C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68484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376565D-F56E-5193-A1D9-43636F7078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4270" y="149466"/>
            <a:ext cx="11285838" cy="894332"/>
          </a:xfrm>
        </p:spPr>
        <p:txBody>
          <a:bodyPr>
            <a:norm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Влияние слоя внимания на качество модели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62260409-8CBE-E04F-3B85-B96E74DAE8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13</a:t>
            </a:fld>
            <a:endParaRPr lang="ru-RU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4A19CE1D-AE20-031D-E96D-3A43D141546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36672" y="1977081"/>
            <a:ext cx="5843436" cy="3639707"/>
          </a:xfr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1436F7B-1CCB-C33A-0868-E87B789C26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552" y="2334642"/>
            <a:ext cx="4820323" cy="2924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36458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6B97A87-C574-3195-8CF8-1D328A0A56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497" y="320675"/>
            <a:ext cx="10515600" cy="1325563"/>
          </a:xfrm>
        </p:spPr>
        <p:txBody>
          <a:bodyPr>
            <a:normAutofit/>
          </a:bodyPr>
          <a:lstStyle/>
          <a:p>
            <a:r>
              <a:rPr lang="ru-RU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Влияние слоя адаптации признаков на качество модели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454427B2-49B8-A5D4-8177-AC6E624BA8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14</a:t>
            </a:fld>
            <a:endParaRPr lang="ru-RU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C2BA9E5-B0A4-C3B1-E131-D335E42922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497" y="2380734"/>
            <a:ext cx="4658076" cy="2800869"/>
          </a:xfrm>
          <a:prstGeom prst="rect">
            <a:avLst/>
          </a:prstGeom>
        </p:spPr>
      </p:pic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5F57C34F-77C5-391A-EF69-579E6DF133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3622" y="1986027"/>
            <a:ext cx="6260881" cy="3590282"/>
          </a:xfrm>
        </p:spPr>
      </p:pic>
    </p:spTree>
    <p:extLst>
      <p:ext uri="{BB962C8B-B14F-4D97-AF65-F5344CB8AC3E}">
        <p14:creationId xmlns:p14="http://schemas.microsoft.com/office/powerpoint/2010/main" val="6371447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20A9D3B-933C-69BD-31F0-43C878B8E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Влияние качества изображения на качество модели</a:t>
            </a:r>
            <a:endParaRPr lang="ru-RU" sz="4000" dirty="0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0958E61C-4D8A-7AE0-F90D-1D61901FA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15</a:t>
            </a:fld>
            <a:endParaRPr lang="ru-RU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BF594E00-B585-AA98-6E1F-8205C125EBF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3431" y="1458911"/>
            <a:ext cx="7965137" cy="3940178"/>
          </a:xfr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874FA25-6DDE-20E8-B41E-241D557490AD}"/>
              </a:ext>
            </a:extLst>
          </p:cNvPr>
          <p:cNvSpPr txBox="1"/>
          <p:nvPr/>
        </p:nvSpPr>
        <p:spPr>
          <a:xfrm>
            <a:off x="1005016" y="5554554"/>
            <a:ext cx="78287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 сильном сжатии (JPEG = 80) модель сохраняет приемлемую точность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b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41515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571FF09-4EB3-ECEF-3990-C8952638FF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7607"/>
            <a:ext cx="10515600" cy="106686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Заключение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C72896-2680-493D-3394-862D67D1AE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18122"/>
            <a:ext cx="10604157" cy="49624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 достигнута</a:t>
            </a:r>
            <a:r>
              <a:rPr lang="vi-V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разработан и реализован метод обнаружения фальсифицированного фрагмента на изображении с использованием сверточной нейронной сети.</a:t>
            </a:r>
            <a:endParaRPr lang="ru-RU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Все задачи решены:</a:t>
            </a:r>
          </a:p>
          <a:p>
            <a:pPr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приведен сравнительный анализ методов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обнаружения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фальсифицированного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фрагмента на изображении;</a:t>
            </a:r>
          </a:p>
          <a:p>
            <a:pPr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разработал метод обнаружения фальсифицированного фрагмента на изображении с использованием сверточной нейронной сети;</a:t>
            </a:r>
          </a:p>
          <a:p>
            <a:pPr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разработал программное обеспечение, реализующее данный метод;</a:t>
            </a:r>
          </a:p>
          <a:p>
            <a:pPr>
              <a:buFontTx/>
              <a:buChar char="-"/>
            </a:pPr>
            <a:r>
              <a:rPr lang="ru-RU" sz="2400">
                <a:latin typeface="Times New Roman" panose="02020603050405020304" pitchFamily="18" charset="0"/>
                <a:cs typeface="Times New Roman" panose="02020603050405020304" pitchFamily="18" charset="0"/>
              </a:rPr>
              <a:t>приведены исследования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эффективности реализованного метода.</a:t>
            </a:r>
          </a:p>
          <a:p>
            <a:pPr marL="0" indent="0">
              <a:buNone/>
            </a:pP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00C8FFF-3137-9A7C-E043-541A77E28A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77970111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1154</TotalTime>
  <Words>497</Words>
  <Application>Microsoft Office PowerPoint</Application>
  <PresentationFormat>Widescreen</PresentationFormat>
  <Paragraphs>105</Paragraphs>
  <Slides>16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Aptos</vt:lpstr>
      <vt:lpstr>Aptos Display</vt:lpstr>
      <vt:lpstr>Arial</vt:lpstr>
      <vt:lpstr>Cambria Math</vt:lpstr>
      <vt:lpstr>Times New Roman</vt:lpstr>
      <vt:lpstr>Тема Office</vt:lpstr>
      <vt:lpstr> Выпуская квалификационная работа Метод обнаружения фальсифицированного фрагмента на изображении с использованием сверточной нейронной сети</vt:lpstr>
      <vt:lpstr>Актуальность</vt:lpstr>
      <vt:lpstr>Цель и задачи ВКР</vt:lpstr>
      <vt:lpstr>Таблица сравнения существующих методов</vt:lpstr>
      <vt:lpstr>Формализация задачи </vt:lpstr>
      <vt:lpstr>Функциональная модель разработанного метода </vt:lpstr>
      <vt:lpstr>Алгоритм извлечения признаков</vt:lpstr>
      <vt:lpstr>Структура сверточной нейронной сети</vt:lpstr>
      <vt:lpstr>Структура сверточной нейронной сети</vt:lpstr>
      <vt:lpstr>Набор данных</vt:lpstr>
      <vt:lpstr>Схема разработанного ПО</vt:lpstr>
      <vt:lpstr>Метрики оценки качества метода</vt:lpstr>
      <vt:lpstr>Влияние слоя внимания на качество модели</vt:lpstr>
      <vt:lpstr>Влияние слоя адаптации признаков на качество модели</vt:lpstr>
      <vt:lpstr>Влияние качества изображения на качество модели</vt:lpstr>
      <vt:lpstr>Заключение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Метод классификации новостных текстов по тематике с помощью метода опорных векторов</dc:title>
  <dc:creator>Việt Anh Đinh</dc:creator>
  <cp:lastModifiedBy>Việt Anh Đinh</cp:lastModifiedBy>
  <cp:revision>102</cp:revision>
  <dcterms:created xsi:type="dcterms:W3CDTF">2024-05-18T19:36:39Z</dcterms:created>
  <dcterms:modified xsi:type="dcterms:W3CDTF">2026-06-22T22:13:38Z</dcterms:modified>
</cp:coreProperties>
</file>